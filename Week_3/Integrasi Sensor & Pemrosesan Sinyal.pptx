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40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slide" Target="slides/slide4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254698"/>
            <a:ext cx="762000" cy="571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65126"/>
            <a:ext cx="1158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JetBrains Mono"/>
              </a:rPr>
              <a:t>MODUL PRAKTIKUM MIKROKONTROLER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41376"/>
            <a:ext cx="10101262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Inter"/>
              </a:rPr>
              <a:t>Integrasi Sensor &amp;</a:t>
            </a:r>
            <a:r>
              <a:t>
</a:t>
            </a:r>
            <a:r>
              <a:rPr b="1" sz="5400" i="0" u="none">
                <a:solidFill>
                  <a:srgbClr val="FFFFFF"/>
                </a:solidFill>
                <a:latin typeface="Inter"/>
              </a:rPr>
              <a:t> Pemrosesan Sinyal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616648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Sistem Analog, Modul DHT11, dan Algoritma Filter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2571750" cy="48387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1409700"/>
            <a:ext cx="2571750" cy="48387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409700"/>
            <a:ext cx="2571750" cy="48387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1409700"/>
            <a:ext cx="2571750" cy="48387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70026"/>
            <a:ext cx="19431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070026"/>
            <a:ext cx="19431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070026"/>
            <a:ext cx="19431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2931914"/>
            <a:ext cx="194310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AGENDA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PRAKTIKUM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679626"/>
            <a:ext cx="25503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Konsep Dasar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108251"/>
            <a:ext cx="20383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Peran sensor dalam ekosistem MCU.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275" y="3679626"/>
            <a:ext cx="25503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Sinyal Analog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75" y="4108251"/>
            <a:ext cx="20383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Konversi ADC dan resolusi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679626"/>
            <a:ext cx="25503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Sensor DHT11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108251"/>
            <a:ext cx="20383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Protokol digital suhu &amp; kelembaban.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4975" y="3541514"/>
            <a:ext cx="2140267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Signal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975" y="4246364"/>
            <a:ext cx="20383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Filter noise dan moving average.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24500" y="3871912"/>
            <a:ext cx="1143000" cy="76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32979" y="2909887"/>
            <a:ext cx="8326040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Inter"/>
              </a:rPr>
              <a:t>01. Pengantar Sistem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409700"/>
            <a:ext cx="5257800" cy="4838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29992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34817"/>
            <a:ext cx="1333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239642"/>
            <a:ext cx="1333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APA ITU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SENSOR?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13632"/>
            <a:ext cx="5620702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Penerjemah Dunia Fisik.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39392"/>
            <a:ext cx="5353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Mengubah besaran fisik (suhu, cahaya, tekanan) menjadi sinyal listrik yang dapat dibaca mesin.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229992"/>
            <a:ext cx="48458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Input sistem kontrol.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734817"/>
            <a:ext cx="48458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Mendeteksi perubahan lingkungan.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5239642"/>
            <a:ext cx="48458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Memicu aktuator.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238875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409700"/>
            <a:ext cx="5257800" cy="571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7875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6238875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1409700"/>
            <a:ext cx="525780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600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605212"/>
            <a:ext cx="13335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110037"/>
            <a:ext cx="13335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614862"/>
            <a:ext cx="13335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3605212"/>
            <a:ext cx="13335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4110037"/>
            <a:ext cx="133350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4614862"/>
            <a:ext cx="133350" cy="2762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KLASIFIKASI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SINYAL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2586037"/>
            <a:ext cx="607575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766E"/>
                </a:solidFill>
                <a:latin typeface="Inter"/>
              </a:rPr>
              <a:t>Sensor Analog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3109912"/>
            <a:ext cx="5786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Output berupa tegangan kontinu yang bervariasi.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2586037"/>
            <a:ext cx="555307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766E"/>
                </a:solidFill>
                <a:latin typeface="Inter"/>
              </a:rPr>
              <a:t>Sensor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25" y="3109912"/>
            <a:ext cx="55530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Output berupa logika diskrit (0 dan 1).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4925" y="3605212"/>
            <a:ext cx="54054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Membutuhkan pin ADC.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4925" y="4110037"/>
            <a:ext cx="54054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Contoh: Potensiometer, LDR.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925" y="4614862"/>
            <a:ext cx="54054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Rentan terhadap noise.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9925" y="3605212"/>
            <a:ext cx="5172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Menggunakan protokol komunikasi.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9925" y="4110037"/>
            <a:ext cx="5172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Contoh: DHT11, Ultrasonik.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9925" y="4614862"/>
            <a:ext cx="5172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Lebih kebal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1409700"/>
            <a:ext cx="3454449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PERAN UTAMA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74826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Akuisisi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03451"/>
            <a:ext cx="2920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Membaca nilai tegangan secara periodik.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025" y="33748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Kalkulasi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3025" y="38034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Mengonversi nilai raw ke satuan fisik.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2275" y="3374826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Keputusan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275" y="3803451"/>
            <a:ext cx="2920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Mengeksekusi logika batas (threshold).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24500" y="3871912"/>
            <a:ext cx="1143000" cy="76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5375" y="2909887"/>
            <a:ext cx="10001250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Inter"/>
              </a:rPr>
              <a:t>02. Sensor Analog &amp; ADC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9700"/>
            <a:ext cx="5257800" cy="5295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SINYAL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KONTINU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0" y="3219450"/>
            <a:ext cx="3312914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Tak Terbatas.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3914775"/>
            <a:ext cx="5353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Sinyal analog memiliki nilai tak terhingga di antara dua titik tegangan.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4619625"/>
            <a:ext cx="40124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A580C"/>
                </a:solidFill>
                <a:latin typeface="Inter"/>
              </a:rPr>
              <a:t>MCU hanya mengerti diskrit.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1409700"/>
            <a:ext cx="3454449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KONSEP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ADC (ANALOG-TO-DIGITAL)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74826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03451"/>
            <a:ext cx="2920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Mencatat nilai sinyal pada interval waktu tetap.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025" y="33748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Kuantisasi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3025" y="38034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Membulatkan nilai ke level diskrit terdekat.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2275" y="3374826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275" y="3803451"/>
            <a:ext cx="2920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Mengubah level menjadi kode biner.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14575"/>
            <a:ext cx="28320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41650" y="2314575"/>
            <a:ext cx="442614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7798" y="2314575"/>
            <a:ext cx="371460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019425"/>
            <a:ext cx="28320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41650" y="3019425"/>
            <a:ext cx="442614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7798" y="3019425"/>
            <a:ext cx="371460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724275"/>
            <a:ext cx="28320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41650" y="3724275"/>
            <a:ext cx="442614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7798" y="3724275"/>
            <a:ext cx="371460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429125"/>
            <a:ext cx="28320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1650" y="4429125"/>
            <a:ext cx="442614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7798" y="4429125"/>
            <a:ext cx="371460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600" y="1638300"/>
          <a:ext cx="10972799" cy="2819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32050"/>
                <a:gridCol w="4426148"/>
                <a:gridCol w="3714601"/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766E"/>
                          </a:solidFill>
                          <a:latin typeface="Inter"/>
                        </a:rPr>
                        <a:t>Bit Resolusi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766E"/>
                          </a:solidFill>
                          <a:latin typeface="Inter"/>
                        </a:rPr>
                        <a:t>Jumlah Level (Steps)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766E"/>
                          </a:solidFill>
                          <a:latin typeface="Inter"/>
                        </a:rPr>
                        <a:t>Contoh 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8-bit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256 level (0-255)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AVR Dasar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10-bit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1024 level (0-1023)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Arduino Uno / Mega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12-bit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4096 level (0-4095)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ESP32 / STM32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RESOLUSI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ADC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12" y="4086225"/>
            <a:ext cx="133350" cy="276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12" y="4591050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12" y="5095875"/>
            <a:ext cx="133350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TEGANGAN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REFERENSI (VREF)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0343" y="2057400"/>
            <a:ext cx="6691312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1" sz="9000" i="0" u="none">
                <a:solidFill>
                  <a:srgbClr val="EA580C"/>
                </a:solidFill>
                <a:latin typeface="Inter"/>
              </a:rPr>
              <a:t>5V / 1024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9265" y="3352800"/>
            <a:ext cx="4893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64748B"/>
                </a:solidFill>
                <a:latin typeface="Inter"/>
              </a:rPr>
              <a:t>Formula Dasar (Arduino Uno 10-bit)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5712" y="4086225"/>
            <a:ext cx="63222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Vref menentukan batas atas pembacaan ADC.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5712" y="4591050"/>
            <a:ext cx="63222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Jika Vref 5V, maka step 1023 setara 5V.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5712" y="5095875"/>
            <a:ext cx="63222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Resolusi per step = 4.88 mV.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1409700"/>
            <a:ext cx="3454449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KOMPONEN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ANALOG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74826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Potensiometer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03451"/>
            <a:ext cx="2920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Resistor variabel pembagi tegangan.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025" y="33748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LDR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3025" y="38034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Resistansi berubah sesuai intensitas cahaya.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2275" y="3374826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LM35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275" y="3803451"/>
            <a:ext cx="2920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Output 10mV untuk setiap derajat Celcius.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BEB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38300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43125"/>
            <a:ext cx="1333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47950"/>
            <a:ext cx="1333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ATURAN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WIRING ANALOG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638300"/>
            <a:ext cx="6191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VCC: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Dihubungkan ke 5V atau 3.3V.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143125"/>
            <a:ext cx="6191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GND: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Referensi nol sistem.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647950"/>
            <a:ext cx="4972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OUT/DATA: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Wajib ke pin berlabel 'A' (A0, A1).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374826"/>
            <a:ext cx="5553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97706"/>
                </a:solidFill>
                <a:latin typeface="Inter"/>
              </a:rPr>
              <a:t>Peringatan Penting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803451"/>
            <a:ext cx="472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Jangan melampaui batas Vref pin ADC. Memicu kerusakan permanen pada mikrokontroler.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24500" y="3871912"/>
            <a:ext cx="1143000" cy="76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854" y="2909887"/>
            <a:ext cx="10326290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Inter"/>
              </a:rPr>
              <a:t>03. Sensor Digital &amp; DHT11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3362325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3867150"/>
            <a:ext cx="1333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4371975"/>
            <a:ext cx="1333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SINYAL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990850"/>
            <a:ext cx="3150393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Logika Biner.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86175"/>
            <a:ext cx="5353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Hanya mengenal dua kondisi: TINGGI (1) atau RENDAH (0).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391025"/>
            <a:ext cx="53220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Kebal terhadap noise tegangan minor.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781300"/>
            <a:ext cx="5553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Keuntungan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25" y="3362325"/>
            <a:ext cx="5172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Transmisi jarak jauh.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9925" y="3867150"/>
            <a:ext cx="5172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Mendukung protokol bus.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9925" y="4371975"/>
            <a:ext cx="5172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Akurasi data terjamin.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1409700"/>
            <a:ext cx="3454449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PROTOKOL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SENSOR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94782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I2C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23407"/>
            <a:ext cx="353206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2 kabel (SDA, SCL). Multi-device.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025" y="33748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SPI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3025" y="38034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4 kabel. Kecepatan transfer sangat tinggi.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2275" y="3374826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One-Wire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275" y="3803451"/>
            <a:ext cx="2920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1 kabel data. Format waktu spesifik.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9700"/>
            <a:ext cx="5257800" cy="4838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638550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4143375"/>
            <a:ext cx="1333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4648200"/>
            <a:ext cx="1333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PROFIL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MODUL DHT11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505075"/>
            <a:ext cx="367545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766E"/>
                </a:solidFill>
                <a:latin typeface="Inter"/>
              </a:rPr>
              <a:t>Sensor Iklim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028950"/>
            <a:ext cx="5353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00000"/>
                </a:solidFill>
                <a:latin typeface="Inter"/>
              </a:rPr>
              <a:t>Menggabungkan termistor NTC dan sensor kelembaban resistif.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3638550"/>
            <a:ext cx="4381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Output digital terkalibrasi.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4143375"/>
            <a:ext cx="4381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Protokol komunikasi single-bus.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4648200"/>
            <a:ext cx="4381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Biaya rendah, sangat populer.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14575"/>
            <a:ext cx="392802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37620" y="2314575"/>
            <a:ext cx="396493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2550" y="2314575"/>
            <a:ext cx="30798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019425"/>
            <a:ext cx="392802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37620" y="3019425"/>
            <a:ext cx="396493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2550" y="3019425"/>
            <a:ext cx="30798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724275"/>
            <a:ext cx="392802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37620" y="3724275"/>
            <a:ext cx="396493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2550" y="3724275"/>
            <a:ext cx="30798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429125"/>
            <a:ext cx="392802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7620" y="4429125"/>
            <a:ext cx="396493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2550" y="4429125"/>
            <a:ext cx="30798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600" y="1638300"/>
          <a:ext cx="10972799" cy="2819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928020"/>
                <a:gridCol w="3964930"/>
                <a:gridCol w="3079849"/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766E"/>
                          </a:solidFill>
                          <a:latin typeface="Inter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766E"/>
                          </a:solidFill>
                          <a:latin typeface="Inter"/>
                        </a:rPr>
                        <a:t>Rentang / Nilai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766E"/>
                          </a:solidFill>
                          <a:latin typeface="Inter"/>
                        </a:rPr>
                        <a:t>Akurasi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Kelembaban (RH)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20% - 90%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± 5% RH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Suhu (Celcius)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0°C - 50°C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± 2°C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Tegangan Kerja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3.3V - 5.5V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Maks 2.5mA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SPESIFIKASI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TEKNIS DHT11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1409700"/>
            <a:ext cx="3454449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238875"/>
            <a:ext cx="345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409700"/>
            <a:ext cx="34543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4375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700" y="6238875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700" y="1409700"/>
            <a:ext cx="3454449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700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3625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7950" y="6238875"/>
            <a:ext cx="345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950" y="1409700"/>
            <a:ext cx="3454300" cy="571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950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726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KONFIGURASI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PINOUT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518594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Pin 1: VCC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947219"/>
            <a:ext cx="353206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Catu daya 3.3V atau 5V.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3025" y="3518594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Pin 2: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3025" y="3947219"/>
            <a:ext cx="3532249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Jalur komunikasi serial tunggal.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2275" y="3518594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Pin 4: GND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2275" y="3947219"/>
            <a:ext cx="353206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Ground. (Pin 3 biasanya NC).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10972800" cy="3095625"/>
          </a:xfrm>
          <a:prstGeom prst="roundRect">
            <a:avLst>
              <a:gd name="adj" fmla="val 4923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33925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238750"/>
            <a:ext cx="1333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43575"/>
            <a:ext cx="1333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FORMAT DATA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40-BIT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38125" y="2797522"/>
            <a:ext cx="12668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0284C7"/>
                </a:solidFill>
                <a:latin typeface="JetBrains Mono"/>
              </a:rPr>
              <a:t>8bit RH Int + 8bit RH Dec + 8bit Temp Int + 8bit Temp Dec + 8bit Checksum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4733925"/>
            <a:ext cx="11201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RH Int: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Nilai bulat kelembaban.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5238750"/>
            <a:ext cx="11201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Temp Int: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Nilai bulat suhu.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5743575"/>
            <a:ext cx="11201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Checksum: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Validasi integritas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SYARAT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WIRING DHT11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7046" y="3043237"/>
            <a:ext cx="4202906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1" sz="9000" i="0" u="none">
                <a:solidFill>
                  <a:srgbClr val="EA580C"/>
                </a:solidFill>
                <a:latin typeface="Inter"/>
              </a:rPr>
              <a:t>4.7kΩ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5265" y="4338637"/>
            <a:ext cx="2226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64748B"/>
                </a:solidFill>
                <a:latin typeface="Inter"/>
              </a:rPr>
              <a:t>Resistor Pull-Up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38925" y="3058715"/>
            <a:ext cx="5553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Mengapa Pull-Up?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925" y="3487340"/>
            <a:ext cx="472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Jalur data memerlukan kondisi default HIGH agar komunikasi 1-wire berjalan stabil.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4119562"/>
            <a:ext cx="472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1" u="none">
                <a:solidFill>
                  <a:srgbClr val="475569"/>
                </a:solidFill>
                <a:latin typeface="Inter"/>
              </a:rPr>
              <a:t>Catatan: Modul DHT11 (PCB) biasanya sudah menyertakan resistor ini.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24500" y="3871912"/>
            <a:ext cx="1143000" cy="76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6528" y="2909887"/>
            <a:ext cx="11538942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Inter"/>
              </a:rPr>
              <a:t>04. Pemrosesan Sinyal Dasar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95662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00487"/>
            <a:ext cx="1333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405312"/>
            <a:ext cx="1333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MENGAPA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DIPROSES?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47962"/>
            <a:ext cx="6663332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Data Mentah Tidak Sempurna.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374826"/>
            <a:ext cx="5553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Tujuan Pemrosesan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803451"/>
            <a:ext cx="472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Mendapatkan data yang stabil, akurat, dan dapat diandalkan sebelum memicu aktuator.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395662"/>
            <a:ext cx="38457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Fluktuasi kelistrikan (noise).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900487"/>
            <a:ext cx="38457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Ketidakakuratan pabrik.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405312"/>
            <a:ext cx="38457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Bouncing mekanik tombol.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9700"/>
            <a:ext cx="5257800" cy="4838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38300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419350"/>
            <a:ext cx="1333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200400"/>
            <a:ext cx="1333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KARAKTERISTIK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1638300"/>
            <a:ext cx="4972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White Noise: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Fluktuasi acak amplitudo rendah.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2419350"/>
            <a:ext cx="4972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Spikes: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Lonjakan tajam akibat interferensi elektromagnetik.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3200400"/>
            <a:ext cx="4972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Drift: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Perubahan lambat nilai dasar akibat suhu lingkungan.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TEKNIK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KALIBRASI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3197721"/>
            <a:ext cx="607575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Offset (Zeroing)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26346"/>
            <a:ext cx="472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Menambah/mengurangi nilai konstan untuk memperbaiki titik nol.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220467"/>
            <a:ext cx="57864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EA580C"/>
                </a:solidFill>
                <a:latin typeface="JetBrains Mono"/>
              </a:rPr>
              <a:t>Y = X +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197721"/>
            <a:ext cx="5553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Scaling (Gain)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626346"/>
            <a:ext cx="472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Mengalikan dengan faktor tertentu untuk menyesuaikan rentang nilai.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220467"/>
            <a:ext cx="55530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EA580C"/>
                </a:solidFill>
                <a:latin typeface="JetBrains Mono"/>
              </a:rPr>
              <a:t>Y = X * Faktor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1409700"/>
            <a:ext cx="3454449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1409700"/>
            <a:ext cx="3454300" cy="48387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PENDEKATAN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FILTER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74826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Software-based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03451"/>
            <a:ext cx="2920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Diimplementasikan via kode di dalam MCU.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025" y="33748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Ekonomis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3025" y="38034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Tanpa tambahan komponen kapasitor/induktor.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2275" y="3374826"/>
            <a:ext cx="370866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Fleksibel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275" y="3803451"/>
            <a:ext cx="2920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Parameter filter dapat diubah saat runtime.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2009775"/>
            <a:ext cx="7620000" cy="4238625"/>
          </a:xfrm>
          <a:prstGeom prst="roundRect">
            <a:avLst>
              <a:gd name="adj" fmla="val 35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FILTER: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MOVING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8046" y="1409700"/>
            <a:ext cx="9155906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334155"/>
                </a:solidFill>
                <a:latin typeface="Inter"/>
              </a:rPr>
              <a:t>Mengambil rata-rata dari N jumlah sampel terakhir.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6406" y="3942457"/>
            <a:ext cx="8739187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1" sz="2100" i="0" u="none">
                <a:solidFill>
                  <a:srgbClr val="0F766E"/>
                </a:solidFill>
                <a:latin typeface="JetBrains Mono"/>
              </a:rPr>
              <a:t>Avg = (S1 + S2 + ... + Sn) / 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238875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409700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409700"/>
            <a:ext cx="57150" cy="4838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7875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6238875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1409700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600" y="1409700"/>
            <a:ext cx="57150" cy="4838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1409700"/>
            <a:ext cx="9525" cy="483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538537"/>
            <a:ext cx="13335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043362"/>
            <a:ext cx="13335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3538537"/>
            <a:ext cx="13335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4043362"/>
            <a:ext cx="133350" cy="2762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TRADE-OFF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MOVING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3109912"/>
            <a:ext cx="601325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Kelebihan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3109912"/>
            <a:ext cx="55054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Kekurangan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2550" y="3538537"/>
            <a:ext cx="53459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Sangat efektif meredam white noise.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2550" y="4043362"/>
            <a:ext cx="53459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Logika algoritma sederhana.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7550" y="3538537"/>
            <a:ext cx="51244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Menimbulkan jeda waktu (delay).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7550" y="4043362"/>
            <a:ext cx="51244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Memakan memori RAM (array).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10972800" cy="3019425"/>
          </a:xfrm>
          <a:prstGeom prst="roundRect">
            <a:avLst>
              <a:gd name="adj" fmla="val 50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33925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238750"/>
            <a:ext cx="1333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43575"/>
            <a:ext cx="1333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FILTER: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EXPONENTIAL SMOOTHING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38125" y="2759422"/>
            <a:ext cx="12668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475569"/>
                </a:solidFill>
                <a:latin typeface="JetBrains Mono"/>
              </a:rPr>
              <a:t>F_new = (Alpha * Raw) + ((1 - Alpha) * F_old)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4733925"/>
            <a:ext cx="11201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Alpha (0-1):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Faktor bobot data baru.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5238750"/>
            <a:ext cx="11201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Hemat memori RAM (tanpa array).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5743575"/>
            <a:ext cx="11201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Bertindak sebagai Low Pass Filter digital.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409700"/>
            <a:ext cx="5257800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TEKNIK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DEBOUNCING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57500"/>
            <a:ext cx="312539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Osilasi Mekanik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81375"/>
            <a:ext cx="5353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Kontak tombol fisik memantul sebelum stabil, menghasilkan multi-sinyal.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67175"/>
            <a:ext cx="241280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A580C"/>
                </a:solidFill>
                <a:latin typeface="Inter"/>
              </a:rPr>
              <a:t>Solusi Software: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43400"/>
            <a:ext cx="5353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Abaikan perubahan sinyal selama 50 milidetik setelah transisi pertama.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374826"/>
            <a:ext cx="5553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Fungsi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803451"/>
            <a:ext cx="472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Mencegah MCU mendeteksi satu penekanan tombol sebagai beberapa kali klik beruntun.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2400300"/>
            <a:ext cx="7620000" cy="38481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6238875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2400300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400300"/>
            <a:ext cx="57150" cy="384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96475" y="2400300"/>
            <a:ext cx="9525" cy="384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LOGIKA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HISTERESIS (THRESHOLDING)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187" y="1409700"/>
            <a:ext cx="107156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Mencegah aktuator (seperti relay) hidup-mati terus-menerus saat nilai sensor berada tepat di batas ambang.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9984" y="4057650"/>
            <a:ext cx="8679656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JetBrains Mono"/>
              </a:rPr>
              <a:t>JIKA suhu &gt; 30°C MAKA Kipas ON</a:t>
            </a:r>
            <a:r>
              <a:t>
</a:t>
            </a:r>
            <a:r>
              <a:rPr b="0" sz="1500" i="0" u="none">
                <a:solidFill>
                  <a:srgbClr val="475569"/>
                </a:solidFill>
                <a:latin typeface="JetBrains Mono"/>
              </a:rPr>
              <a:t> JIKA suhu &lt; 28°C MAKA Kipas OFF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24500" y="3871912"/>
            <a:ext cx="1143000" cy="76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9042" y="2909887"/>
            <a:ext cx="11313914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Inter"/>
              </a:rPr>
              <a:t>05. Praktikum 1: ADC Analog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9700"/>
            <a:ext cx="5257800" cy="4838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309937"/>
            <a:ext cx="1333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814762"/>
            <a:ext cx="1333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4319587"/>
            <a:ext cx="1333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SKEMA: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PEMBACAAN POTENSIOMETER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833687"/>
            <a:ext cx="20002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0000"/>
                </a:solidFill>
                <a:latin typeface="Inter"/>
              </a:rPr>
              <a:t>Koneksi 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3309937"/>
            <a:ext cx="3048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Kaki Kiri ➔ 5V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3814762"/>
            <a:ext cx="3048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Kaki Kanan ➔ GND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4319587"/>
            <a:ext cx="3048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Kaki Tengah ➔ Pin A0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/>
          <p:nvPr/>
        </p:nvSpPr>
        <p:spPr>
          <a:xfrm>
            <a:off x="609600" y="1409700"/>
            <a:ext cx="10972800" cy="4838700"/>
          </a:xfrm>
          <a:prstGeom prst="roundRect">
            <a:avLst>
              <a:gd fmla="val 236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609600" y="609600"/>
            <a:ext cx="115824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KODE: </a:t>
            </a:r>
            <a:r>
              <a:rPr b="1" i="0" lang="en-US" sz="27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BASIC ANALOG READ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1052700" y="1714500"/>
            <a:ext cx="101130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setup() { </a:t>
            </a:r>
            <a:endParaRPr b="0" i="0" sz="15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Serial.begin(9600);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Inisiasi komunikasi</a:t>
            </a: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5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 </a:t>
            </a:r>
            <a:endParaRPr b="0" i="0" sz="15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loop() { </a:t>
            </a:r>
            <a:endParaRPr b="0" i="0" sz="15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nilaiRaw = analogRead(A0); </a:t>
            </a:r>
            <a:endParaRPr b="0" i="0" sz="15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 tegangan = nilaiRaw * (5.0 / 1023.0); </a:t>
            </a:r>
            <a:endParaRPr b="0" i="0" sz="15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Serial.println(tegangan); </a:t>
            </a:r>
            <a:endParaRPr b="0" i="0" sz="15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delay(100); </a:t>
            </a:r>
            <a:endParaRPr b="0" i="0" sz="15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24500" y="3871912"/>
            <a:ext cx="1143000" cy="76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7054" y="2909887"/>
            <a:ext cx="11697890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Inter"/>
              </a:rPr>
              <a:t>06. Praktikum 2: Modul DHT11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52578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409700"/>
            <a:ext cx="52578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57650"/>
            <a:ext cx="52578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PERSIAPAN: </a:t>
            </a:r>
            <a:r>
              <a:rPr b="1" sz="2700" i="0" u="none">
                <a:solidFill>
                  <a:srgbClr val="0F766E"/>
                </a:solidFill>
                <a:latin typeface="Inter"/>
              </a:rPr>
              <a:t>LIBRARY DHT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170807"/>
            <a:ext cx="607575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Langkah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599432"/>
            <a:ext cx="57864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Buka Library Manager di Arduino 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170807"/>
            <a:ext cx="5553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Langkah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599432"/>
            <a:ext cx="55530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Cari "DHT sensor library by Adafruit" dan Install.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818757"/>
            <a:ext cx="607575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Wiring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5247382"/>
            <a:ext cx="57864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Hubungkan Pin Data DHT11 ke Pin Digital 2 MCU.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609600" y="1409700"/>
            <a:ext cx="10972800" cy="4838700"/>
          </a:xfrm>
          <a:prstGeom prst="roundRect">
            <a:avLst>
              <a:gd fmla="val 236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KODE: </a:t>
            </a:r>
            <a:r>
              <a:rPr b="1" i="0" lang="en-US" sz="27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BACA SUHU &amp; KELEMBABAN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1016763" y="1599346"/>
            <a:ext cx="10004100" cy="4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#include &lt;dht.h&gt;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#define DHTPIN 2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#define DHTTYPE DHT11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DHT dht(DHTPIN, DHTTYPE);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setup() {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Serial.begin(9600);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dht.begin();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loop() {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 h = dht.readHumidity();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 t = dht.readTemperature();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Serial.print("Suhu: ");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Serial.println(t);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delay(2000);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Wajib delay minimal 2 detik</a:t>
            </a: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20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48125"/>
            <a:ext cx="762000" cy="571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20440" y="2076450"/>
            <a:ext cx="8951118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Inter"/>
              </a:rPr>
              <a:t>Sesi Praktikum Selesai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038475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Gunakan Serial Plotter untuk membandingkan gelombang sinyal mentah dan sinyal hasil filter.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4539" y="4410075"/>
            <a:ext cx="336292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38BDF8"/>
                </a:solidFill>
                <a:latin typeface="Inter"/>
              </a:rPr>
              <a:t>Ada Pertanyaan?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1100" y="1981200"/>
            <a:ext cx="98298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1100" y="2819400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1100" y="3590925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1100" y="4362450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1100" y="280987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1100" y="280987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1100" y="358140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1100" y="358140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1100" y="435292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1100" y="435292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1100" y="512445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1100" y="512445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157412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962275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3733800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450532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" y="527685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100" y="1181100"/>
            <a:ext cx="3937992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76475" y="2124075"/>
            <a:ext cx="882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https://preview.redd.it/the-right-kind-of-macro-lens-for-taking-close-up-pictures-v0-14x6zxlypy9c1.png?width=2640&amp;format=png&amp;auto=webp&amp;s=e44cd6b17750ea4a383188ccfe0b62616fabcf0f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76475" y="2476500"/>
            <a:ext cx="2238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www.reddit.com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6475" y="3005137"/>
            <a:ext cx="9915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https://zeroinstrument.com/wp-content/uploads/2026/02/Understanding-Sampling-and-Signal-Conversion-From-Analog-to-Digital-768x768.png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475" y="3205162"/>
            <a:ext cx="2536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zeroinstrument.com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76475" y="3776662"/>
            <a:ext cx="9915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https://digilog.pk/cdn/shop/files/dht11-temperature-humidity-sensor-module-for-arduino-with-led-light-indication-1.jpg?v=1786804459&amp;width=500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76475" y="3976687"/>
            <a:ext cx="1654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digilog.pk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6475" y="4548187"/>
            <a:ext cx="9915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https://www.crossco.com/wp-content/uploads/2025/04/Smooth-Signals-by-Filter-or-Moving-Average-Figure-3-Moving-Averages-1.1.png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6475" y="4748212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www.crossco.com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76475" y="5319712"/>
            <a:ext cx="5607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https://cdn.sparkfun.com/assets/2/f/9/d/a/513a1dfbce395fe524000001.JPG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76475" y="5519737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learn.sparkfun.com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