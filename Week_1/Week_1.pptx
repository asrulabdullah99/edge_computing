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Inter"/>
      <p:italic r:id="rId53"/>
    </p:embeddedFont>
    <p:embeddedFont>
      <p:font typeface="Urbanist"/>
      <p:bold r:id="rId5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31.png"/><Relationship Id="rId7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44.png"/><Relationship Id="rId4" Type="http://schemas.openxmlformats.org/officeDocument/2006/relationships/image" Target="../media/image8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821358"/>
            <a:ext cx="11601450" cy="2681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Urbanist"/>
              </a:rPr>
              <a:t>Komputasi Tepi </a:t>
            </a:r>
            <a:r>
              <a:rPr sz="4800" b="1" i="0" u="none">
                <a:solidFill>
                  <a:srgbClr val="00E5FF"/>
                </a:solidFill>
                <a:latin typeface="Urbanist"/>
              </a:rPr>
              <a:t>(Edge Computing)</a:t>
            </a:r>
            <a:r>
              <a:rPr sz="4800" b="1" i="0" u="none">
                <a:solidFill>
                  <a:srgbClr val="FFFFFF"/>
                </a:solidFill>
                <a:latin typeface="Urbanist"/>
              </a:rPr>
              <a:t> &amp;</a:t>
            </a:r>
            <a:r>
              <a:t>
</a:t>
            </a:r>
            <a:r>
              <a:rPr sz="4800" b="1" i="0" u="none">
                <a:solidFill>
                  <a:srgbClr val="FFFFFF"/>
                </a:solidFill>
                <a:latin typeface="Urbanist"/>
              </a:rPr>
              <a:t> Kecerdasan Buatan Skala Mikro </a:t>
            </a:r>
            <a:r>
              <a:rPr sz="4800" b="1" i="0" u="none">
                <a:solidFill>
                  <a:srgbClr val="00E5FF"/>
                </a:solidFill>
                <a:latin typeface="Urbanist"/>
              </a:rPr>
              <a:t>(TinyML)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321" y="4693741"/>
            <a:ext cx="1367362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0" i="0" u="none" dirty="0">
                <a:solidFill>
                  <a:srgbClr val="72EFDD"/>
                </a:solidFill>
                <a:latin typeface="Inter"/>
              </a:rPr>
              <a:t>Asrul Abdullah</a:t>
            </a:r>
            <a:endParaRPr sz="1800" b="0" i="0" u="none" dirty="0">
              <a:solidFill>
                <a:srgbClr val="72EFDD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300162"/>
            <a:ext cx="5286375" cy="2276475"/>
          </a:xfrm>
          <a:prstGeom prst="roundRect">
            <a:avLst>
              <a:gd name="adj" fmla="val 5020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1300162"/>
            <a:ext cx="5286375" cy="2276475"/>
          </a:xfrm>
          <a:prstGeom prst="roundRect">
            <a:avLst>
              <a:gd name="adj" fmla="val 5020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1500" y="4052887"/>
            <a:ext cx="5286375" cy="2276475"/>
          </a:xfrm>
          <a:prstGeom prst="roundRect">
            <a:avLst>
              <a:gd name="adj" fmla="val 5020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34125" y="4052887"/>
            <a:ext cx="5286375" cy="2276475"/>
          </a:xfrm>
          <a:prstGeom prst="roundRect">
            <a:avLst>
              <a:gd name="adj" fmla="val 5020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71637"/>
            <a:ext cx="3143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1671637"/>
            <a:ext cx="3143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24362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4424362"/>
            <a:ext cx="27622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Tujuan Pembelajaran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643062"/>
            <a:ext cx="6038254" cy="304800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Transisi Paradigma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90737"/>
            <a:ext cx="46958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Memahami secara mendalam pergeseran paradigma pemrosesan data dari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Cloud Computing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yang terpusat menuju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Edge Computing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yang terdistribusi di ujung jaringan.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1643062"/>
            <a:ext cx="5514975" cy="304800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Arsitektur Sistem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2090737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Menganalisis arsitektur sistem Edge IoT secara komprehensif, memahami peran masing-masing layer dari node sensor hingga gateway dan cloud.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95787"/>
            <a:ext cx="6038254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Konsep TinyML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3462"/>
            <a:ext cx="46958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Memahami konsep dasar TinyML dan strategi penanaman model cerdas pada perangkat bersumber daya sangat terbatas (Microcontroller Unit / MCU).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4395787"/>
            <a:ext cx="5514975" cy="304800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Implementasi Nyata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4843462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Meninjau berbagai studi kasus dan contoh implementasi nyata di lapangan untuk memecahkan masalah industri yang spesifik.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6500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33700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90900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48100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05300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0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Agenda Pembahasan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2443162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Bagian 1: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Pengenalan Edge vs Cloud Computing dalam konteks IoT.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900362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Bagian 2: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Arsitektur Sistem Edge IoT (Node, Gateway, Protokol).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357562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Bagian 3: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Konsep Dasar TinyML pada Mikrokontroler (MCU).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3814762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Bagian 4: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Siklus Hidup (Pipeline) Pengembangan TinyML.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271962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Bagian 5: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Studi Kasus dan Implementasi di Dunia Nyata.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4729162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Bagian 6: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Kesimpulan dan Sesi Tanya Jawab.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65070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Pendahuluan: </a:t>
            </a:r>
            <a:r>
              <a:t>
</a:t>
            </a:r>
            <a:r>
              <a:rPr sz="3150" b="1" i="0" u="none">
                <a:solidFill>
                  <a:srgbClr val="00E5FF"/>
                </a:solidFill>
                <a:latin typeface="Urbanist"/>
              </a:rPr>
              <a:t>Tantangan IoT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195512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Proyeksi Skala Masif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643187"/>
            <a:ext cx="5381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Miliaran perangkat IoT aktif secara global terus menghasilkan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Zettabytes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data setiap tahun.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05187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Masalah Infrastruktur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52862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Mengirim semua data sensor mentah (suhu, gambar, getaran) secara terus-menerus ke Cloud menimbulkan hambatan besar pada infrastruktur jaringan.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900612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Solusi Masa Depan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48287"/>
            <a:ext cx="5381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Kita perlu membawa "otak" pemrosesan lebih dekat ke sumber data itu sendiri.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062162"/>
            <a:ext cx="11430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85875" y="4357687"/>
            <a:ext cx="9620250" cy="628650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4567237"/>
            <a:ext cx="2095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4567237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350" y="4567237"/>
            <a:ext cx="26670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4567237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650" y="4567237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25" y="4567237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575" y="4567237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025" y="4567237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875" y="4567237"/>
            <a:ext cx="2667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3007" y="2290762"/>
            <a:ext cx="11685984" cy="638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Urbanist"/>
              </a:rPr>
              <a:t>Apa itu </a:t>
            </a:r>
            <a:r>
              <a:rPr sz="4200" b="1" i="0" u="none">
                <a:solidFill>
                  <a:srgbClr val="00E5FF"/>
                </a:solidFill>
                <a:latin typeface="Urbanist"/>
              </a:rPr>
              <a:t>Cloud Computing</a:t>
            </a:r>
            <a:r>
              <a:rPr sz="4200" b="1" i="0" u="none">
                <a:solidFill>
                  <a:srgbClr val="FFFFFF"/>
                </a:solidFill>
                <a:latin typeface="Urbanist"/>
              </a:rPr>
              <a:t> dalam IoT?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187" y="3119437"/>
            <a:ext cx="10715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Model di mana perangkat IoT hanya bertindak sebagai "pengumpul data bodoh" (dumb terminals). Semua logika, penyimpanan, dan analitik dilakukan terpusat di server data center (AWS, Google Cloud, Azure).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305050"/>
            <a:ext cx="6667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49" y="2305050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749" y="2305050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466975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8424" y="2466975"/>
            <a:ext cx="3048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7674" y="2466975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Keunggulan Cloud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162300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Daya Komputasi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609975"/>
            <a:ext cx="3092499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Daya komputasi tak terbatas. Server cloud mampu menjalankan model Machine Learning raksasa yang tidak mungkin dijalankan di perangkat lokal.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449" y="3162300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Skalabilitas Tinggi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449" y="3609975"/>
            <a:ext cx="3092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Kapasitas penyimpanan dan pemrosesan data dapat ditambahkan atau dikurangi kapan saja sesuai kebutuhan tanpa mengubah hardware lokal.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9" y="3162300"/>
            <a:ext cx="3816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Akses &amp;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749" y="3609975"/>
            <a:ext cx="3092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Aksesibilitas global untuk memantau data. Pembaruan sistem dan maintenance cukup dilakukan secara terpusat di satu server utama.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305050"/>
            <a:ext cx="6667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49" y="2305050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749" y="2305050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2466975"/>
            <a:ext cx="3048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512" y="2466975"/>
            <a:ext cx="428625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4811" y="2466975"/>
            <a:ext cx="42862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Masalah Kritis Cloud Computing pada 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162300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EF4444"/>
                </a:solidFill>
                <a:latin typeface="Urbanist"/>
              </a:rPr>
              <a:t>Latensi (Jeda Waktu)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609975"/>
            <a:ext cx="3092499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Kecepatan cahaya dan jarak fisik menyebabkan delay (misal: 100ms - 2 detik). Ini terlalu lambat untuk sistem real-time yang kritis (sistem pengereman, katup pabrik).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449" y="3162300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59E0B"/>
                </a:solidFill>
                <a:latin typeface="Urbanist"/>
              </a:rPr>
              <a:t>Bandwidth &amp; Biaya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449" y="3609975"/>
            <a:ext cx="3092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Mengirim aliran data sensor 24/7 (seperti data audio, video, atau getaran resolusi tinggi) akan menghabiskan kuota internet yang sangat mahal.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9" y="3162300"/>
            <a:ext cx="3816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Urbanist"/>
              </a:rPr>
              <a:t>Ketergantungan Sinyal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749" y="3609975"/>
            <a:ext cx="30924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Jika koneksi internet putus, sistem IoT akan mati total karena kehilangan "otak" pengambil keputusan di cloud.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666750"/>
            <a:ext cx="11430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86000" y="2676525"/>
            <a:ext cx="7620000" cy="3705225"/>
          </a:xfrm>
          <a:prstGeom prst="roundRect">
            <a:avLst>
              <a:gd name="adj" fmla="val 3084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32992" y="895350"/>
            <a:ext cx="8126015" cy="638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Urbanist"/>
              </a:rPr>
              <a:t>Apa itu </a:t>
            </a:r>
            <a:r>
              <a:rPr sz="4200" b="1" i="0" u="none">
                <a:solidFill>
                  <a:srgbClr val="00E5FF"/>
                </a:solidFill>
                <a:latin typeface="Urbanist"/>
              </a:rPr>
              <a:t>Edge Computing?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187" y="1724025"/>
            <a:ext cx="10715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Paradigma komputasi terdistribusi yang mendekatkan proses komputasi dan penyimpanan data ke lokasi di mana data itu diperlukan (di "tepi" atau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edge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dari jaringan).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9649" y="2924175"/>
            <a:ext cx="1612701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72EFDD"/>
                </a:solidFill>
                <a:latin typeface="Urbanist"/>
              </a:rPr>
              <a:t>Konsep Inti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3062" y="3371850"/>
            <a:ext cx="8905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Perangkat IoT lokal menganalisis datanya sendiri, mengambil keputusan lokal secara instan, dan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hanya mengirimkan ringkasan informasi atau anomali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ke server cloud.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19550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76750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5" y="4305300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5" y="4762500"/>
            <a:ext cx="95250" cy="2000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1500" y="2105025"/>
            <a:ext cx="5286375" cy="3419475"/>
          </a:xfrm>
          <a:prstGeom prst="roundRect">
            <a:avLst>
              <a:gd name="adj" fmla="val 3342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34125" y="2105025"/>
            <a:ext cx="5286375" cy="3419475"/>
          </a:xfrm>
          <a:prstGeom prst="roundRect">
            <a:avLst>
              <a:gd name="adj" fmla="val 3342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5514975"/>
            <a:ext cx="52863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105025"/>
            <a:ext cx="5286375" cy="476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2105025"/>
            <a:ext cx="9525" cy="3419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48350" y="2105025"/>
            <a:ext cx="9525" cy="3419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34125" y="5514975"/>
            <a:ext cx="52863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4125" y="2105025"/>
            <a:ext cx="5286375" cy="476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4125" y="2105025"/>
            <a:ext cx="9525" cy="3419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610975" y="2105025"/>
            <a:ext cx="9525" cy="3419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14600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2514600"/>
            <a:ext cx="2476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14787"/>
            <a:ext cx="14287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71987"/>
            <a:ext cx="14287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4300537"/>
            <a:ext cx="1714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4757737"/>
            <a:ext cx="171450" cy="2000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Pergeseran Paradigma Pemrosesan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486025"/>
            <a:ext cx="6038254" cy="304800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EF4444"/>
                </a:solidFill>
                <a:latin typeface="Urbanist"/>
              </a:rPr>
              <a:t>Paradigma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933700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"Kirim semua data suhu setiap detik ke server secara terus menerus. Server yang akan mengecek apakah terjadi kebakaran atau tidak."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7025" y="2486025"/>
            <a:ext cx="5514975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Paradigma 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7025" y="2933700"/>
            <a:ext cx="46958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"Sensor membaca suhu tiap detik. Otak di sensor mengecek sendiri. Jika suhu &gt; 80°C, sensor langsung menyalakan alarm.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Hanya laporan kebakaran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yang dikirim ke cloud."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7775" y="3981450"/>
            <a:ext cx="541734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Menghasilkan ribuan data redundan.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7775" y="4438650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Menunggu respon server untuk menyalakan alarm.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0" y="4267200"/>
            <a:ext cx="5181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Respon seketika tanpa delay internet.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0400" y="4724400"/>
            <a:ext cx="5181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Menghemat transmisi data secara drastis.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305050"/>
            <a:ext cx="6667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49" y="2305050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749" y="2305050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2466975"/>
            <a:ext cx="3048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9374" y="2466975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4811" y="2466975"/>
            <a:ext cx="42862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Mengapa Kita Butuh Edge Computing?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162300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Respon 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609975"/>
            <a:ext cx="3092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Mencapai latensi di bawah 10 milidetik. Keputusan diambil langsung di alat secara mekanis tanpa perlu melakukan round-trip ke server jauh.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449" y="3162300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Hemat Bandwidth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449" y="3609975"/>
            <a:ext cx="3092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Mengurangi trafik data yang dikirimkan melalui jaringan hingga 99%. Sensor hanya mengirimkan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insight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atau kesimpulan, bukan data mentah.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9" y="3162300"/>
            <a:ext cx="3816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Otonomi (Offline)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749" y="3609975"/>
            <a:ext cx="3092499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Sistem tetap bekerja 100% dan bisa mengambil keputusan meski tidak ada koneksi internet. Sangat vital untuk daerah terpencil, pertanian, atau pertambangan.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319337"/>
            <a:ext cx="5286375" cy="2990850"/>
          </a:xfrm>
          <a:prstGeom prst="roundRect">
            <a:avLst>
              <a:gd name="adj" fmla="val 3821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2319337"/>
            <a:ext cx="5286375" cy="2990850"/>
          </a:xfrm>
          <a:prstGeom prst="roundRect">
            <a:avLst>
              <a:gd name="adj" fmla="val 3821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0812"/>
            <a:ext cx="2190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2690812"/>
            <a:ext cx="2476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Komparasi: Privasi &amp; Keamanan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62237"/>
            <a:ext cx="6038254" cy="3048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59E0B"/>
                </a:solidFill>
                <a:latin typeface="Urbanist"/>
              </a:rPr>
              <a:t>Risiko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9912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Data pribadi (seperti rekaman suara, video CCTV dalam rumah) harus dikirim ke server pihak ketiga.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0037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Risiko intersepsi jaringan atau peretasan di tengah jalan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Man in the Middle Attack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menjadi jauh lebih tinggi saat transit.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2662237"/>
            <a:ext cx="5514975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Keamanan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109912"/>
            <a:ext cx="46958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Data sensitif tidak pernah meninggalkan batasan fisik perangkat Anda.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3824287"/>
            <a:ext cx="46958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Contoh: Smart speaker hanya mengenali kata "Tolong", datanya diproses di lokal mikrokontroler dan langsung dihapus dari RAM. Privasi terjaga penuh.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319337"/>
            <a:ext cx="5286375" cy="2990850"/>
          </a:xfrm>
          <a:prstGeom prst="roundRect">
            <a:avLst>
              <a:gd name="adj" fmla="val 3821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2319337"/>
            <a:ext cx="5286375" cy="2990850"/>
          </a:xfrm>
          <a:prstGeom prst="roundRect">
            <a:avLst>
              <a:gd name="adj" fmla="val 3821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0812"/>
            <a:ext cx="2762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2690812"/>
            <a:ext cx="2762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Komparasi: Konsumsi Daya (Energy Trade-off)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62237"/>
            <a:ext cx="6038254" cy="304800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EF4444"/>
                </a:solidFill>
                <a:latin typeface="Urbanist"/>
              </a:rPr>
              <a:t>Boros Daya (Cloud IoT)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9912"/>
            <a:ext cx="46958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Modul radio (WiFi/4G) adalah komponen paling rakus daya pada perangkat IoT.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4287"/>
            <a:ext cx="46958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Perangkat butuh daya besar secara konstan untuk menjaga koneksi tetap terbuka dan memancarkan sinyal radio guna mengirim data terus-menerus ke server.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2662237"/>
            <a:ext cx="5514975" cy="304800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Hemat Daya (Edge IoT)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109912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Perangkat menggunakan daya komputasi lokal (CPU) sedikit lebih besar untuk memproses data, lalu segera kembali ke mode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Deep Sleep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4110037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Transmisi radio (yang sangat boros baterai) sangat diminimalkan, sehingga baterai koin bisa bertahan bertahun-tahun.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528887"/>
            <a:ext cx="31953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66839" y="2528887"/>
            <a:ext cx="360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67289" y="2528887"/>
            <a:ext cx="42532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167062"/>
            <a:ext cx="31953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66839" y="3167062"/>
            <a:ext cx="360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7289" y="3167062"/>
            <a:ext cx="42532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805237"/>
            <a:ext cx="31953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66839" y="3805237"/>
            <a:ext cx="360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7289" y="3805237"/>
            <a:ext cx="42532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443412"/>
            <a:ext cx="31953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66839" y="4443412"/>
            <a:ext cx="360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7289" y="4443412"/>
            <a:ext cx="42532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081587"/>
            <a:ext cx="31953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66839" y="5081587"/>
            <a:ext cx="360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67289" y="5081587"/>
            <a:ext cx="42532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1500" y="1905000"/>
            <a:ext cx="11049000" cy="3819525"/>
          </a:xfrm>
          <a:prstGeom prst="roundRect">
            <a:avLst>
              <a:gd name="adj" fmla="val 0"/>
            </a:avLst>
          </a:prstGeom>
          <a:solidFill>
            <a:srgbClr val="1C25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71500" y="1905000"/>
          <a:ext cx="11048999" cy="3819525"/>
        </p:xfrm>
        <a:graphic>
          <a:graphicData uri="http://schemas.openxmlformats.org/drawingml/2006/table">
            <a:tbl>
              <a:tblPr/>
              <a:tblGrid>
                <a:gridCol w="3195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3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658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Inter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38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Inter"/>
                        </a:rPr>
                        <a:t>Cloud Computing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38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Inter"/>
                        </a:rPr>
                        <a:t>Edge Computing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3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58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0D7E1"/>
                          </a:solidFill>
                          <a:latin typeface="Inter"/>
                        </a:rPr>
                        <a:t>Latensi (Jeda Waktu)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Inter"/>
                        </a:rPr>
                        <a:t>Tinggi (Tergantung Internet)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E5FF"/>
                          </a:solidFill>
                          <a:latin typeface="Inter"/>
                        </a:rPr>
                        <a:t>Sangat Rendah (Real-time)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58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0D7E1"/>
                          </a:solidFill>
                          <a:latin typeface="Inter"/>
                        </a:rPr>
                        <a:t>Penggunaan Bandwidth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Inter"/>
                        </a:rPr>
                        <a:t>Boros (Aliran Data Mentah)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E5FF"/>
                          </a:solidFill>
                          <a:latin typeface="Inter"/>
                        </a:rPr>
                        <a:t>Sangat Hemat (Hanya Insight)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58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0D7E1"/>
                          </a:solidFill>
                          <a:latin typeface="Inter"/>
                        </a:rPr>
                        <a:t>Daya Komputasi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E5FF"/>
                          </a:solidFill>
                          <a:latin typeface="Inter"/>
                        </a:rPr>
                        <a:t>Secara Teoritis Tak Terbatas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59E0B"/>
                          </a:solidFill>
                          <a:latin typeface="Inter"/>
                        </a:rPr>
                        <a:t>Terbatas (Sesuai Spesifikasi MCU)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58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0D7E1"/>
                          </a:solidFill>
                          <a:latin typeface="Inter"/>
                        </a:rPr>
                        <a:t>Ketergantungan Internet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Inter"/>
                        </a:rPr>
                        <a:t>Mutlak (Kritis)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E5FF"/>
                          </a:solidFill>
                          <a:latin typeface="Inter"/>
                        </a:rPr>
                        <a:t>Mandiri (Bisa Beroperasi Offline)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59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0D7E1"/>
                          </a:solidFill>
                          <a:latin typeface="Inter"/>
                        </a:rPr>
                        <a:t>Privasi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59E0B"/>
                          </a:solidFill>
                          <a:latin typeface="Inter"/>
                        </a:rPr>
                        <a:t>Rentan (Transit Jaringan)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0E5FF"/>
                          </a:solidFill>
                          <a:latin typeface="Inter"/>
                        </a:rPr>
                        <a:t>Sangat Aman (Pemrosesan Lokal)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Tabel Perbandingan Konseptual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33675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6625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33825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76775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5" y="2733675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5" y="3762375"/>
            <a:ext cx="952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5" y="4505325"/>
            <a:ext cx="95250" cy="2000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1500" y="1905000"/>
            <a:ext cx="5286375" cy="3819525"/>
          </a:xfrm>
          <a:prstGeom prst="roundRect">
            <a:avLst>
              <a:gd name="adj" fmla="val 299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34125" y="1905000"/>
            <a:ext cx="5286375" cy="3819525"/>
          </a:xfrm>
          <a:prstGeom prst="roundRect">
            <a:avLst>
              <a:gd name="adj" fmla="val 299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276475"/>
            <a:ext cx="31432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2276475"/>
            <a:ext cx="2476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Kapan Harus Memilih Cloud atau Edge?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47900"/>
            <a:ext cx="6038254" cy="304800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Pilih Cloud Jika: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2247900"/>
            <a:ext cx="5514975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Pilih Edge Jika: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7775" y="2695575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Perlu melatih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training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model AI besar dari awal.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75" y="3438525"/>
            <a:ext cx="541734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Menganalisis data historis tahunan (Big Data).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75" y="3895725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Melakukan agregasi data lintas wilayah global dari ribuan titik sensor berbeda.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75" y="4638675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Tidak ada batasan ketersediaan listrik dan koneksi pita lebar (broadband).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2695575"/>
            <a:ext cx="4362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Membutuhkan reaksi instan tanpa toleransi delay (kendaraan otonom, katup pengaman pabrik).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724275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Berada di area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blank spot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internet (pertanian lahan gambut, pertambangan laut dalam).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4467225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Memproses data berukuran masif di tingkat sensor (video analitik, audio beresolusi tinggi).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65070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The Hybrid Approach </a:t>
            </a:r>
            <a:r>
              <a:t>
</a:t>
            </a:r>
            <a:r>
              <a:rPr sz="3150" b="1" i="0" u="none">
                <a:solidFill>
                  <a:srgbClr val="00E5FF"/>
                </a:solidFill>
                <a:latin typeface="Urbanist"/>
              </a:rPr>
              <a:t>(Kolaborasi Edge-Cloud)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133600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Arsitektur IoT modern yang sesungguhnya tidak memilih salah satu secara mutlak, melainkan menggabungkan kekuatan keduanya secara harmonis.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81350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Peran Edge: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29025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Digunakan untuk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Inferensi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(prediksi data lokal), respon real-time, dan filtering data mentah (hanya mengirim anomali).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76775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Peran Cloud: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124450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Digunakan untuk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Pelatihan ulang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(Retraining) model AI, penyimpanan jangka panjang, serta dashboard monitoring terpusat.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09762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38512"/>
            <a:ext cx="95250" cy="2000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71662"/>
            <a:ext cx="528637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1890712"/>
            <a:ext cx="5248275" cy="3581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38512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38512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Arsitektur IoT Tradisional vs Edge IoT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1871662"/>
            <a:ext cx="50482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Arsitektur Tradisional (2 Layer):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3300412"/>
            <a:ext cx="504825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Arsitektur Edge IoT (3-4 Layer):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2252662"/>
            <a:ext cx="5048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Hanya terdiri dari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End Devices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(Sensor/Aktuator) yang langsung berkomunikasi dengan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Cloud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. Sangat rentan terhadap bottleneck jaringan.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3681412"/>
            <a:ext cx="5048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Menggunakan lapisan perantara untuk mendistribusikan beban komputasi.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348162"/>
            <a:ext cx="5048250" cy="57150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0E5FF"/>
                </a:solidFill>
                <a:latin typeface="Inter"/>
              </a:rPr>
              <a:t>End Devices (Thin/Thick Edge) Edge Gateway (Fog) Cloud.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5014912"/>
            <a:ext cx="5048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Setiap layer memiliki tingkat kecerdasan dan kemampuan filtering mandiri.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3090862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3548062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4005262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4462462"/>
            <a:ext cx="95250" cy="2000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34125" y="2214562"/>
            <a:ext cx="5286375" cy="3200400"/>
          </a:xfrm>
          <a:prstGeom prst="roundRect">
            <a:avLst>
              <a:gd name="adj" fmla="val 3571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0" y="2490787"/>
            <a:ext cx="2476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Layer 1: Edge Nodes (Perangkat Ujung)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214562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Posisi Paling Depan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662237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Berada paling dekat dengan lingkungan fisik. Komponen utama terdiri dari Sensor pembaca, Aktuator mekanis, dan Mikrokontroler (MCU) sebagai otak lokal.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709987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Karakteristik Fisik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157662"/>
            <a:ext cx="53816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Sangat terbatas dalam hal memori (RAM umumnya hanya dalam hitungan Kilobytes) dan sangat dibatasi oleh ketersediaan tenaga listrik (seringkali mengandalkan baterai koin atau panel surya ukuran kecil).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2757" y="2462212"/>
            <a:ext cx="6209109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72EFDD"/>
                </a:solidFill>
                <a:latin typeface="Urbanist"/>
              </a:rPr>
              <a:t>Contoh Edge Nodes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3052762"/>
            <a:ext cx="52768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Modul ESP32 &amp; ESP8266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3509962"/>
            <a:ext cx="52768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Keluarga Arduino (Nano, Uno)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3967162"/>
            <a:ext cx="52768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STM32 Microcontrollers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4424362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Sensor Kelembaban Tanah Cerdas dengan chip internal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152650"/>
            <a:ext cx="5286375" cy="3324225"/>
          </a:xfrm>
          <a:prstGeom prst="roundRect">
            <a:avLst>
              <a:gd name="adj" fmla="val 3438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2152650"/>
            <a:ext cx="5286375" cy="3324225"/>
          </a:xfrm>
          <a:prstGeom prst="roundRect">
            <a:avLst>
              <a:gd name="adj" fmla="val 3438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Klasifikasi Edge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95550"/>
            <a:ext cx="603825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Thin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3225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Mikrokontroler berukuran sangat kecil dengan daya sangat rendah (seperti arsitektur ARM Cortex-M0, ATmega328, ESP8266).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90975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0D7E1"/>
                </a:solidFill>
                <a:latin typeface="Inter"/>
              </a:rPr>
              <a:t>Fokus: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Akuisisi data dasar, filtering sederhana (mengambil nilai rata-rata), dan inferensi AI skala ultra-mikro (TinyML untuk klasifikasi sinyal 1D).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495550"/>
            <a:ext cx="55149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Thick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943225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Perangkat berdaya menengah yang lebih menyerupai komputer mini (seperti Raspberry Pi, NVIDIA Jetson Nano, Coral TPU).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990975"/>
            <a:ext cx="46958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0D7E1"/>
                </a:solidFill>
                <a:latin typeface="Inter"/>
              </a:rPr>
              <a:t>Fokus: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Bisa menjalankan Sistem Operasi (OS) penuh seperti Linux, dan mampu memproses model Computer Vision (Kamera/Video) yang cukup kompleks di lokal.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4512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7462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14662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0037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52987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10187"/>
            <a:ext cx="95250" cy="2000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328737"/>
            <a:ext cx="5286375" cy="3619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1347787"/>
            <a:ext cx="5248275" cy="3581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Mengenal ESP32 sebagai Edge Node Populer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328737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Spesifikasi Umum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624262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Kelebihan untuk Edge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1776412"/>
            <a:ext cx="5048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Dual-core Xtensa 32-bit LX6 Microprocessor @ 160-240MHz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2519362"/>
            <a:ext cx="627459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SRAM Terbatas: Sekitar 520 KB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2976562"/>
            <a:ext cx="627459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Flash Memory: 4 MB (Standar)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4071937"/>
            <a:ext cx="5048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Dilengkapi kapabilitas WiFi &amp; Bluetooth (BLE) terintegrasi.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4814887"/>
            <a:ext cx="627459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Harga operasional sangat terjangkau.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5272087"/>
            <a:ext cx="5048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Konsumsi daya rendah dengan mode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Deep Sleep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(konsumsi dalam hitungan mikro-Ampere). Sangat ideal untuk Edge IoT skala menengah.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4125" y="2128837"/>
            <a:ext cx="5286375" cy="2943225"/>
          </a:xfrm>
          <a:prstGeom prst="roundRect">
            <a:avLst>
              <a:gd name="adj" fmla="val 3883"/>
            </a:avLst>
          </a:prstGeom>
          <a:solidFill>
            <a:srgbClr val="0A1E36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37" y="2376487"/>
            <a:ext cx="666750" cy="66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862" y="2538412"/>
            <a:ext cx="3429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Layer 2: Edge Gateway (Fog Layer)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128837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Jembatan Penghubung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576512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Berfungsi sebagai terminal jembatan antara puluhan hingga ratusan Edge Nodes di lapangan sebelum data mencapai jaringan luas (Cloud).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624262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Peran Strategis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071937"/>
            <a:ext cx="538162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Melakukan pengumpulan (agregasi) data dari node lokal menggunakan protokol berdaya rendah (LoRaWAN, Zigbee, BLE), memprosesnya secara regional, lalu mengirimkan ringkasannya ke Cloud via backhaul 4G/Fiber Optic.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2757" y="3233737"/>
            <a:ext cx="620910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72EFDD"/>
                </a:solidFill>
                <a:latin typeface="Urbanist"/>
              </a:rPr>
              <a:t>Catatan Terminologi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2890" y="3681412"/>
            <a:ext cx="598884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Dalam literatur arsitektur jaringan modern, batasan antara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Fog Computing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dan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Edge Computing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seringkali dianggap bersinggungan. Gateway lokal ini sering disebut sebagai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Fog Nodes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6500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19500"/>
            <a:ext cx="171450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Protokol Komunikasi di Ekosistem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2443162"/>
            <a:ext cx="10810875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Mengapa HTTP kurang cocok?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586162"/>
            <a:ext cx="1081087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Solusi Protokol Ringan: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2824162"/>
            <a:ext cx="1081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HTTP dirancang untuk web, memiliki Header paket data yang sangat besar. Selain itu, HTTP bersifat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Synchronous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(memblokir proses MCU saat menunggu balasan server), yang sangat memboroskan baterai Edge 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967162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Diperlukan protokol yang dirancang khusus untuk mesin-ke-mesin (M2M) dengan overhead sekecil mungkin.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4348162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1. Berbasis Publish-Subscribe (contoh: MQTT)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4729162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2. RESTful versi super ringan (contoh: CoAP - Constrained Application Protocol)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200275"/>
            <a:ext cx="3492549" cy="3228975"/>
          </a:xfrm>
          <a:prstGeom prst="roundRect">
            <a:avLst>
              <a:gd name="adj" fmla="val 3539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200275"/>
            <a:ext cx="3492549" cy="3228975"/>
          </a:xfrm>
          <a:prstGeom prst="roundRect">
            <a:avLst>
              <a:gd name="adj" fmla="val 3539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200275"/>
            <a:ext cx="3492549" cy="3228975"/>
          </a:xfrm>
          <a:prstGeom prst="roundRect">
            <a:avLst>
              <a:gd name="adj" fmla="val 3539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447925"/>
            <a:ext cx="6667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49" y="2447925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749" y="2447925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609850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9374" y="2609850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7674" y="2609850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MQTT (Message Queuing Telemetry Transport)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305175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Standar Industri IoT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752850"/>
            <a:ext cx="3092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Merupakan protokol standar de-facto terpopuler untuk pengembangan sistem Internet of Things modern, beroperasi di atas TCP/IP.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449" y="3305175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Ultra Ringan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449" y="3752850"/>
            <a:ext cx="3092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Ukuran header paket MQTT hanyalah 2 bytes (dibandingkan HTTP yang bisa mencapai ratusan bytes). Sangat efisien untuk mikrokontroler.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9" y="3305175"/>
            <a:ext cx="3816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Keandalan (QoS)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749" y="3752850"/>
            <a:ext cx="30924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Mendukung 3 level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Quality of Service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(QoS 0, 1, 2) untuk memastikan paket data sampai, ideal untuk koneksi seluler yang sering terputus.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90800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33750"/>
            <a:ext cx="2381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76700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Topologi Jaringan Edge Berbasis MQTT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557462"/>
            <a:ext cx="1081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Edge Nodes (ESP32):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Bertindak sebagai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MQTT Client/Publisher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. Node membaca sensor dan mempublikasikan data ke topik tertentu (misal: pabrik/mesin1/suhu).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300412"/>
            <a:ext cx="1081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Edge Gateway: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(Misal: PC Mini / Raspberry Pi) menjalankan perangkat lunak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MQTT Broker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(contoh: Eclipse Mosquitto) untuk menerima dan mengatur rute lalu lintas pesan lokal.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043362"/>
            <a:ext cx="10810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Alur Inferensi Lokal: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Proses inferensi (AI) berjalan di dalam Edge Node. Jika terjadi anomali (bahaya), Node akan melakukan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Publish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status peringatan ke Broker lokal. Karena bersifat jaringan lokal, latensi pengiriman pesan berada di bawah 5 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057400"/>
            <a:ext cx="3492549" cy="3514725"/>
          </a:xfrm>
          <a:prstGeom prst="roundRect">
            <a:avLst>
              <a:gd name="adj" fmla="val 3272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305050"/>
            <a:ext cx="6667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49" y="2305050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749" y="2305050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2" y="2466975"/>
            <a:ext cx="390525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512" y="2466975"/>
            <a:ext cx="428625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6724" y="2466975"/>
            <a:ext cx="3048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Tantangan Kritis Arsitektur Edge 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162300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Manajemen Memori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609975"/>
            <a:ext cx="3092499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Bagaimana mengkompresi logika program kompleks dan model Neural Network berukuran besar ke dalam RAM MCU yang ukurannya lebih kecil dari 1 MB?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449" y="3162300"/>
            <a:ext cx="393389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Bare-Metal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449" y="3609975"/>
            <a:ext cx="3092499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Mikrokontroler umumnya tidak memiliki Sistem Operasi (OS) standar. Manajemen memori (Heap/Stack) harus dikelola manual menggunakan bahasa C/C++.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9" y="3162300"/>
            <a:ext cx="3816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Keamanan di Ujung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749" y="3609975"/>
            <a:ext cx="3092499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Perangkat fisik IoT sering ditempatkan di luar ruangan yang sepi. Sangat rentan untuk dicuri, di-tamper, atau diekstraksi firmware-nya secara ilegal.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1833562"/>
            <a:ext cx="11430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57920" y="2062162"/>
            <a:ext cx="9276159" cy="638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Urbanist"/>
              </a:rPr>
              <a:t>Kesimpulan Bagian Arsitektur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9218" y="2890837"/>
            <a:ext cx="94535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Arsitektur Edge mengubah hierarki jaringan menjadi lebih terdistribusi dan mandiri.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8078" y="3462337"/>
            <a:ext cx="8655843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1" i="0" u="none">
                <a:solidFill>
                  <a:srgbClr val="00E5FF"/>
                </a:solidFill>
                <a:latin typeface="Inter"/>
              </a:rPr>
              <a:t>Node bukan lagi sekadar alat "baca-kirim",</a:t>
            </a:r>
            <a:r>
              <a:t>
</a:t>
            </a:r>
            <a:r>
              <a:rPr sz="2100" b="1" i="0" u="none">
                <a:solidFill>
                  <a:srgbClr val="00E5FF"/>
                </a:solidFill>
                <a:latin typeface="Inter"/>
              </a:rPr>
              <a:t> melainkan alat yang mampu "baca-pikir-kirim/tindak".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531" y="4643437"/>
            <a:ext cx="1131093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Infrastruktur terdistribusi inilah yang menjadi fondasi dasar yang mutlak diperlukan untuk mengimplementasikan algoritma Machine Learning di titik akhir jaringan (TinyML).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119312"/>
            <a:ext cx="11430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6987" y="4414837"/>
            <a:ext cx="1914525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53012" y="4414837"/>
            <a:ext cx="243840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62912" y="4414837"/>
            <a:ext cx="156210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95675" y="2347912"/>
            <a:ext cx="5200650" cy="638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Urbanist"/>
              </a:rPr>
              <a:t>Apa itu </a:t>
            </a:r>
            <a:r>
              <a:rPr sz="4200" b="1" i="0" u="none">
                <a:solidFill>
                  <a:srgbClr val="00E5FF"/>
                </a:solidFill>
                <a:latin typeface="Urbanist"/>
              </a:rPr>
              <a:t>TinyML?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187" y="3176587"/>
            <a:ext cx="10715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Sebuah sub-bidang dari Machine Learning yang berfokus penuh pada optimasi dan pengembangan model analitik agar dapat beroperasi pada perangkat dengan batas daya sangat ekstrem (di bawah 1 miliwatt), seperti halnya mikrokontroler.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3421" y="4557712"/>
            <a:ext cx="18216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9137" y="4462462"/>
            <a:ext cx="4762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FFFFF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3962" y="4557712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Embedded Systems (IoT)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9037" y="4462462"/>
            <a:ext cx="4762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FFFFFF"/>
                </a:solidFill>
                <a:latin typeface="Inter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0" y="4557712"/>
            <a:ext cx="1381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Data Science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7937"/>
            <a:ext cx="2476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547937"/>
            <a:ext cx="24765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Mengapa TinyML itu Revolusioner?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19362"/>
            <a:ext cx="6938367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Masa Lalu (Konvensional)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67037"/>
            <a:ext cx="53816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Secara historis, algoritma Machine Learning membutuhkan memori (RAM) bergiga-giga dan kartu grafis (GPU) yang mengkonsumsi daya listrik hingga ratusan Watt.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252912"/>
            <a:ext cx="660796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AI selalu diidentikkan dengan server besar yang mahal.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2519362"/>
            <a:ext cx="5857875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Era Baru (TinyML)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2967037"/>
            <a:ext cx="53816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Dengan teknik TinyML, kita mendemokratisasi AI. Kita bisa memberikan "kecerdasan" (seperti deteksi pola suara, pengenalan aktivitas gerak) pada perangkat seharga $2 (Rp 30.000).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4252912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0E5FF"/>
                </a:solidFill>
                <a:latin typeface="Inter"/>
              </a:rPr>
              <a:t>Lebih luar biasanya lagi, perangkat pintar ini mampu berjalan secara konstan menggunakan sebutir baterai koin selama setahun penuh tanpa henti.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152650"/>
            <a:ext cx="5286375" cy="3324225"/>
          </a:xfrm>
          <a:prstGeom prst="roundRect">
            <a:avLst>
              <a:gd name="adj" fmla="val 3438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2152650"/>
            <a:ext cx="5286375" cy="3324225"/>
          </a:xfrm>
          <a:prstGeom prst="roundRect">
            <a:avLst>
              <a:gd name="adj" fmla="val 3438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24125"/>
            <a:ext cx="3143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2524125"/>
            <a:ext cx="2476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Paradigma Utama: Inference at the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5550"/>
            <a:ext cx="6038254" cy="304800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Training (Di Cloud/PC)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43225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0D7E1"/>
                </a:solidFill>
                <a:latin typeface="Inter"/>
              </a:rPr>
              <a:t>Aturan Emas TinyML: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Model Machine Learning selalu dilatih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Training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di komputer besar (Cloud atau PC lokal dengan GPU).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90975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Proses pencarian pola matematik yang kompleks dan memakan waktu berjam-jam ini tidak mungkin dilakukan oleh MCU yang lemah.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2495550"/>
            <a:ext cx="5514975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Inferencing (Di MCU)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2943225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Setelah model selesai dilatih, model tersebut dikompresi dan ditanamkan ke mikrokontroler (Edge).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3990975"/>
            <a:ext cx="46958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Tugas MCU hanyalah "mengingat" dan "menebak" data baru berdasarkan pola yang sudah dilatihkan sebelumnya (proses ini disebut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Inference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), yang mana butuh komputasi jauh lebih ringan.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11049000" cy="5133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Keterbatasan Hardware MCU (Analisis RAM)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76787"/>
            <a:ext cx="111442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D0D7E1"/>
                </a:solidFill>
                <a:latin typeface="Inter"/>
              </a:rPr>
              <a:t>Sebuah model Deep Learning konvensional (misal ResNet) butuh puluhan MB RAM. Tantangan terbesar TinyML adalah </a:t>
            </a:r>
            <a:r>
              <a:rPr sz="1650" b="1" i="0" u="none">
                <a:solidFill>
                  <a:srgbClr val="D0D7E1"/>
                </a:solidFill>
                <a:latin typeface="Inter"/>
              </a:rPr>
              <a:t>memeras (compress) ukuran model ML hingga di bawah 100 KB</a:t>
            </a:r>
            <a:r>
              <a:rPr sz="1650" b="0" i="0" u="none">
                <a:solidFill>
                  <a:srgbClr val="D0D7E1"/>
                </a:solidFill>
                <a:latin typeface="Inter"/>
              </a:rPr>
              <a:t> agar muat beroperasi di dalam batasan SRAM ESP32 yang sangat sempit.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3424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78439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454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08469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73485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4033837"/>
            <a:ext cx="11049000" cy="381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Siklus Hidup (Pipeline) TinyML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751" y="4338637"/>
            <a:ext cx="26102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E5FF"/>
                </a:solidFill>
                <a:latin typeface="Urbanist"/>
              </a:rPr>
              <a:t>1. Pengumpulan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901" y="4710112"/>
            <a:ext cx="24859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Merekam dataset mentah langsung dari sensor perangkat MCU.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5766" y="2709862"/>
            <a:ext cx="26102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E5FF"/>
                </a:solidFill>
                <a:latin typeface="Urbanist"/>
              </a:rPr>
              <a:t>2. Ekstraksi Fitur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916" y="3081337"/>
            <a:ext cx="24859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Pra-pemrosesan sinyal mentah (DSP) agar mudah dikenali 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0781" y="4338637"/>
            <a:ext cx="26102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E5FF"/>
                </a:solidFill>
                <a:latin typeface="Urbanist"/>
              </a:rPr>
              <a:t>3. Pelatihan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2931" y="4710112"/>
            <a:ext cx="24859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Melatih arsitektur NN menggunakan PC GPU (TensorFlow/Keras).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5797" y="2709862"/>
            <a:ext cx="26102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E5FF"/>
                </a:solidFill>
                <a:latin typeface="Urbanist"/>
              </a:rPr>
              <a:t>4. Kuantisasi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7946" y="3081337"/>
            <a:ext cx="24859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Mengompresi model berat menjadi format ultra-ringan (INT8).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0812" y="4338637"/>
            <a:ext cx="26102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E5FF"/>
                </a:solidFill>
                <a:latin typeface="Urbanist"/>
              </a:rPr>
              <a:t>5.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2962" y="4710112"/>
            <a:ext cx="24859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Kompilasi C++ array ke MCU untuk inferensi real-time lokal.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4125" y="2271712"/>
            <a:ext cx="5286375" cy="3086100"/>
          </a:xfrm>
          <a:prstGeom prst="roundRect">
            <a:avLst>
              <a:gd name="adj" fmla="val 3703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Tahap 1: Pengumpulan Data (Data Collection)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71712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Sumber Data Asli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19387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Data idealnya harus diambil langsung dari jenis sensor target mikrokontroler yang akan dipakai produksi, bukan dari dataset internet generik.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19512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Contoh: Merekam langsung getaran motor pabrik saat "Normal" versus saat "Bearing Rusak" menggunakan sensor MPU6050.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519362"/>
            <a:ext cx="56102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Teknik Windowing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967037"/>
            <a:ext cx="48863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Data Time-Series (data runtun waktu kontinu seperti gelombang suara atau getaran) tidak bisa dimasukkan sekaligus.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967162"/>
            <a:ext cx="48863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Data harus dipotong-potong menjadi jendela waktu tetap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Windowing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), misalnya sampel setiap interval 2 detik, dengan irisan berlebih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overlap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untuk menjaga kontinuitas sinyal.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Tahap 2: Ekstraksi Fitur (DSP)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19362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Digital Signal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67037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Memasukkan data mentah sensor ke model Neural Network sangat tidak efisien untuk ukuran MCU. Kita wajib menggunakan blok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Digital Signal Processing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(DSP).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519362"/>
            <a:ext cx="58578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Transformasi Sinyal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2967037"/>
            <a:ext cx="53816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Contoh audio/getaran: Mengubah data deret waktu amplitudo yang acak menjadi spektrum frekuensi menggunakan algoritma FFT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Fast Fourier Transform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atau MFCC.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4252912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0E5FF"/>
                </a:solidFill>
                <a:latin typeface="Inter"/>
              </a:rPr>
              <a:t>Model Machine Learning di dalam MCU akan jauh lebih mudah mendeteksi puncak gelombang frekuensi spesifik daripada menebak fluktuasi amplitudo mentah.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200275"/>
            <a:ext cx="5286375" cy="3228975"/>
          </a:xfrm>
          <a:prstGeom prst="roundRect">
            <a:avLst>
              <a:gd name="adj" fmla="val 3539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2200275"/>
            <a:ext cx="5286375" cy="3228975"/>
          </a:xfrm>
          <a:prstGeom prst="roundRect">
            <a:avLst>
              <a:gd name="adj" fmla="val 3539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71750"/>
            <a:ext cx="2190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2571750"/>
            <a:ext cx="2190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Tahap 3: Pelatihan Model (Training)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3175"/>
            <a:ext cx="6038254" cy="3048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Arsitektur Minimalis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0850"/>
            <a:ext cx="46958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Gunakan arsitektur Neural Network yang sangat kecil dan efisien.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69582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Sangat disarankan menghindari lapisan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layers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dalam yang kompleks. Gunakan kombinasi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Fully Connected Layers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sederhana atau CNN 1-Dimensi/2-Dimensi yang dirancang sangat ringkas.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2543175"/>
            <a:ext cx="5514975" cy="3048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 Eksekusi Pelatihan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2990850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Tahap berat ini sama sekali tidak melibatkan ESP32. Pelatihan menggunakan bahasa Python (TensorFlow, Keras, atau PyTorch).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3943350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Dijalankan di infrastruktur komputer berkinerja tinggi (PC Gaming, Server Cloud, atau Google Colab).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4125" y="2057400"/>
            <a:ext cx="5286375" cy="2019300"/>
          </a:xfrm>
          <a:prstGeom prst="roundRect">
            <a:avLst>
              <a:gd name="adj" fmla="val 5660"/>
            </a:avLst>
          </a:prstGeom>
          <a:solidFill>
            <a:srgbClr val="0A1E36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2314575"/>
            <a:ext cx="4772025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Tahap 4: Optimasi dan Kuantisasi (Fase Krusial)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57400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Jantung dari TinyML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05075"/>
            <a:ext cx="5381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Tahap ini adalah pembeda utama antara Deep Learning biasa dan TinyML.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267075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Permasalahan Komputasi FPU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714750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Model ML standar dari TensorFlow menyimpan parameter bobot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weights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dalam format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Float32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(angka pecahan/desimal yang menyita memori 32-bit).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14875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MCU murah umumnya tidak memiliki perangkat keras khusus FPU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Floating Point Unit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yang efisien untuk memproses pecahan dengan cepat.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8710" y="3076575"/>
            <a:ext cx="619720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72EFDD"/>
                </a:solidFill>
                <a:latin typeface="Urbanist"/>
              </a:rPr>
              <a:t>Solusi Tunggal: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4796" y="3476625"/>
            <a:ext cx="5965031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FFFFFF"/>
                </a:solidFill>
                <a:latin typeface="Inter"/>
              </a:rPr>
              <a:t>Post-Training Quantization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0300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43250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86200"/>
            <a:ext cx="238125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Memahami Proses Kuantisasi (Quantization)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366962"/>
            <a:ext cx="1081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Konversi Tipe Data: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Merupakan proses mengubah tipe data parameter bobot model dari desimal berpresisi tinggi (Float32) menjadi bilangan bulat (integer) berpresisi rendah (INT8).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109912"/>
            <a:ext cx="1081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Dampak Signifikan (Ukuran):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Ukuran file model menyusut secara ekstrem hingga </a:t>
            </a:r>
            <a:r>
              <a:rPr sz="1500" b="1" i="0" u="none">
                <a:solidFill>
                  <a:srgbClr val="FFFFFF"/>
                </a:solidFill>
                <a:latin typeface="Inter"/>
              </a:rPr>
              <a:t>4x lipat lebih kecil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(contoh: model berukuran 400 KB langsung mengecil menjadi 100 KB, sehingga muat di ESP32).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852862"/>
            <a:ext cx="10810875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Trade-off Akurasi vs Kecepatan: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4233862"/>
            <a:ext cx="10810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Secara matematis akan terjadi sedikit penurunan akurasi (sekitar 1% - 3%) karena pembulatan desimal. Namun, latensi (kecepatan tebakan inferensi) di dalam prosesor MCU meningkat drastis karena operasi integer sangat ringan bagi CPU sederhana.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4125" y="2379612"/>
            <a:ext cx="5286375" cy="2213074"/>
          </a:xfrm>
          <a:prstGeom prst="roundRect">
            <a:avLst>
              <a:gd name="adj" fmla="val 5164"/>
            </a:avLst>
          </a:prstGeom>
          <a:solidFill>
            <a:srgbClr val="0D1117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Tahap 5: Deployment ke Mikrokontroler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379612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Konversi ke Bahasa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27287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Mikrokontroler tidak bisa membaca file sistem python (.h5). Model yang telah dikuantisasi (.tflite) harus dikonversi ke dalam bahasa pemrograman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C/C++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27412"/>
            <a:ext cx="5381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Model AI diubah bentuknya menjadi deretan panjang array byte konstan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C byte array header file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4735562"/>
            <a:ext cx="5381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D0D7E1"/>
                </a:solidFill>
                <a:latin typeface="Inter"/>
              </a:rPr>
              <a:t>Array statis ini di-compile bersama logika program sensor (Arduino IDE), kemudian di-flash ke memori MCU.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627262"/>
            <a:ext cx="56102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8A6FF"/>
                </a:solidFill>
                <a:latin typeface="monospace"/>
              </a:rPr>
              <a:t>// model_data.h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065412"/>
            <a:ext cx="4886325" cy="1279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9D1D9"/>
                </a:solidFill>
                <a:latin typeface="monospace"/>
              </a:rPr>
              <a:t>const unsigned char g_model[] = {</a:t>
            </a:r>
            <a:r>
              <a:t>
</a:t>
            </a:r>
            <a:r>
              <a:rPr sz="1050" b="0" i="0" u="none">
                <a:solidFill>
                  <a:srgbClr val="C9D1D9"/>
                </a:solidFill>
                <a:latin typeface="monospace"/>
              </a:rPr>
              <a:t>   0x1c, 0x00, 0x00, 0x00, 0x54, 0x46,</a:t>
            </a:r>
            <a:r>
              <a:t>
</a:t>
            </a:r>
            <a:r>
              <a:rPr sz="1050" b="0" i="0" u="none">
                <a:solidFill>
                  <a:srgbClr val="C9D1D9"/>
                </a:solidFill>
                <a:latin typeface="monospace"/>
              </a:rPr>
              <a:t>   0x4c, 0x33, 0x00, 0x00, 0x12, 0x00,</a:t>
            </a:r>
            <a:r>
              <a:t>
</a:t>
            </a:r>
            <a:r>
              <a:rPr sz="1050" b="0" i="0" u="none">
                <a:solidFill>
                  <a:srgbClr val="C9D1D9"/>
                </a:solidFill>
                <a:latin typeface="monospace"/>
              </a:rPr>
              <a:t>   ... (ribuan baris hex) ...</a:t>
            </a:r>
            <a:r>
              <a:t>
</a:t>
            </a:r>
            <a:r>
              <a:rPr sz="1050" b="0" i="0" u="none">
                <a:solidFill>
                  <a:srgbClr val="C9D1D9"/>
                </a:solidFill>
                <a:latin typeface="monospace"/>
              </a:rPr>
              <a:t> };</a:t>
            </a:r>
            <a:r>
              <a:t>
</a:t>
            </a:r>
            <a:r>
              <a:rPr sz="1050" b="0" i="0" u="none">
                <a:solidFill>
                  <a:srgbClr val="C9D1D9"/>
                </a:solidFill>
                <a:latin typeface="monospace"/>
              </a:rPr>
              <a:t> const unsigned int g_model_len = 105232;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171700"/>
            <a:ext cx="5381625" cy="3286125"/>
          </a:xfrm>
          <a:prstGeom prst="roundRect">
            <a:avLst>
              <a:gd name="adj" fmla="val 3478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38875" y="2171700"/>
            <a:ext cx="5381625" cy="3286125"/>
          </a:xfrm>
          <a:prstGeom prst="roundRect">
            <a:avLst>
              <a:gd name="adj" fmla="val 3478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5448300"/>
            <a:ext cx="5381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171700"/>
            <a:ext cx="5381625" cy="47625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171700"/>
            <a:ext cx="9525" cy="3286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0" y="2171700"/>
            <a:ext cx="9525" cy="3286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8875" y="5448300"/>
            <a:ext cx="5381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8875" y="2171700"/>
            <a:ext cx="5381625" cy="476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8875" y="2171700"/>
            <a:ext cx="9525" cy="3286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610975" y="2171700"/>
            <a:ext cx="9525" cy="3286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457450"/>
            <a:ext cx="666750" cy="666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457450"/>
            <a:ext cx="666750" cy="666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12" y="2619375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5587" y="2619375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Framework TinyML Terpopuler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3314700"/>
            <a:ext cx="5230653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TensorFlow Lite for Microcontrollers (TFLM)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4067175"/>
            <a:ext cx="49815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Standar industri open-source dari Google. Berbasis murni C++ murni yang tidak membutuhkan dukungan OS, hanya butuh RAM minimum &lt; 16 KB untuk inti engine-nya.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3314700"/>
            <a:ext cx="57054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Edge Impulse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3762375"/>
            <a:ext cx="49815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Platform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Cloud-based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terdepan yang sangat mempermudah proses TinyML end-to-end secara visual, mulai dari ekstraksi fitur DSP hingga men-generate library Arduino langsung siap pakai.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5012"/>
            <a:ext cx="528637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33587"/>
            <a:ext cx="2476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29012"/>
            <a:ext cx="2476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2024062"/>
            <a:ext cx="5248275" cy="3581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Studi Kasus 1: Pertanian Cerdas Lahan Gambut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005012"/>
            <a:ext cx="6938367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Latar Belakang Masalah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452687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Pemantauan parameter fisik kualitas tanah lahan gambut secara real-time di perkebunan yang miskin konektivitas seluler.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500437"/>
            <a:ext cx="6938367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Kendala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948112"/>
            <a:ext cx="53816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Mengirim ribuan baris data mentah kelembaban per jam ke server seringkali gagal akibat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blank spot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dan menghabiskan baterai node sensor yang bersumber dari sel surya kecil.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4125" y="2057400"/>
            <a:ext cx="5286375" cy="3514725"/>
          </a:xfrm>
          <a:prstGeom prst="roundRect">
            <a:avLst>
              <a:gd name="adj" fmla="val 3252"/>
            </a:avLst>
          </a:prstGeom>
          <a:solidFill>
            <a:srgbClr val="0A1E36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333625"/>
            <a:ext cx="21907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Lanjutan Contoh 1: Prediksi Lokal Edge-AI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57400"/>
            <a:ext cx="693836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Penerapan TinyML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05075"/>
            <a:ext cx="53816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Model klasifikasi tanah (mengidentifikasi pola tanah Normal, Krisis Air, Asam Ekstrem berdasarkan kombinasi multi-sensor) dilatih, dikuantisasi, dan ditanam secara permanen di dalam modul ESP32.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305050"/>
            <a:ext cx="5610225" cy="3048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Aksi Otonom &amp; Hemat Bandwidth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752725"/>
            <a:ext cx="48863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Jika model memprediksi kondisi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"Krisis Air"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, ESP32 langsung memicu relai pompa air irigasi secara mekanis detik itu juga.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752850"/>
            <a:ext cx="48863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0E5FF"/>
                </a:solidFill>
                <a:latin typeface="monospace"/>
              </a:rPr>
              <a:t>payload = {"status": "Krisis", "pompa": "ON"}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467225"/>
            <a:ext cx="48863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Node hanya mengirim string JSON berukuran beberapa bytes di atas melalui MQTT ke server pusat sesekali saja. Sangat hemat bandwidth!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66875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28950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91025"/>
            <a:ext cx="95250" cy="2000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28775"/>
            <a:ext cx="5286375" cy="361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1647825"/>
            <a:ext cx="5248275" cy="3581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Contoh 2: Deteksi Anomali Mesin (Predictive Maintenance)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1628775"/>
            <a:ext cx="5048250" cy="1190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Akuisisi Data Kecepatan Tinggi: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2990850"/>
            <a:ext cx="5048250" cy="1190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Training Model TinyML: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4352925"/>
            <a:ext cx="5048250" cy="147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Pencegahan Bencana: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1962150"/>
            <a:ext cx="5048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Sensor Getaran (Accelerometer presisi tinggi) dipasang pada motor induksi pabrik, membaca data mekanis dalam hitungan KiloHertz.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3324225"/>
            <a:ext cx="5048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Model dilatih khusus untuk membedakan karakteristik getaran spektrum "Motor Normal" versus getaran aneh "Bantalan/Bearing Mulai Aus".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686300"/>
            <a:ext cx="50482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0E5FF"/>
                </a:solidFill>
                <a:latin typeface="Inter"/>
              </a:rPr>
              <a:t>ESP32 memproses blok sinyal FFT. Jika mendeteksi lonjakan anomali aus, alat langsung memutus sirkuit dan membunyikan sirine bahaya, mematikan motor jauh sebelum terjadi kehancuran mekanis total.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747837"/>
            <a:ext cx="528637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76412"/>
            <a:ext cx="2190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71837"/>
            <a:ext cx="2476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1766887"/>
            <a:ext cx="5248275" cy="3581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Contoh 3: Smart Conservation Berbasis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747837"/>
            <a:ext cx="6938367" cy="3048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Konsep Pelestarian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195512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Perangkat mikrokontroler dengan modul mikrofon kecil dipasang tersebar pada kanopi pohon di dalam kedalaman hutan hujan tropis.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243262"/>
            <a:ext cx="6938367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Klasifikasi Audio Ujung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690937"/>
            <a:ext cx="53816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ESP32 menjalankan algoritma pengenalan suara Neural Network ringan yang terus mengawasi pola suara bising </a:t>
            </a:r>
            <a:r>
              <a:rPr sz="1500" b="1" i="0" u="none">
                <a:solidFill>
                  <a:srgbClr val="D0D7E1"/>
                </a:solidFill>
                <a:latin typeface="Inter"/>
              </a:rPr>
              <a:t>gergaji mesin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(indikasi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illegal logging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/ penebangan pembohong).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024437"/>
            <a:ext cx="5381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72EFDD"/>
                </a:solidFill>
                <a:latin typeface="Inter"/>
              </a:rPr>
              <a:t>Sistem bekerja offline 24/7 dan baterai mampu bertahan selama berbulan-bulan berkat teknik Deep Sleep antara proses inferensi.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295525"/>
            <a:ext cx="5286375" cy="3038475"/>
          </a:xfrm>
          <a:prstGeom prst="roundRect">
            <a:avLst>
              <a:gd name="adj" fmla="val 3761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2295525"/>
            <a:ext cx="5286375" cy="3038475"/>
          </a:xfrm>
          <a:prstGeom prst="roundRect">
            <a:avLst>
              <a:gd name="adj" fmla="val 3761"/>
            </a:avLst>
          </a:prstGeom>
          <a:solidFill>
            <a:srgbClr val="1C2541"/>
          </a:solidFill>
          <a:ln w="9525">
            <a:solidFill>
              <a:srgbClr val="17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67000"/>
            <a:ext cx="2476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2667000"/>
            <a:ext cx="2190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Tantangan Implementasi TinyML Masa Depan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8425"/>
            <a:ext cx="6038254" cy="3048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Maintenance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86100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Bagaimana cara meng-update (pembaruan firmware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Over-The-Air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/ OTA) model Machine Learning di puluhan ribu node secara serentak?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3850"/>
            <a:ext cx="46958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Terutama jika terjadi perubahan pola lingkungan yang drastis (disebut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Data Drift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sehingga akurasi model lama menurun seiring waktu.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2638425"/>
            <a:ext cx="5514975" cy="3048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72EFDD"/>
                </a:solidFill>
                <a:latin typeface="Urbanist"/>
              </a:rPr>
              <a:t>Keamanan Hak Kekayaan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086100"/>
            <a:ext cx="469582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Memastikan byte array (model ML) berharga yang tersimpan di dalam flash memori ESP32 yang tergeletak di hutan tidak bisa di-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reverse engineer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atau dicuri oleh pihak kompetitor industri yang tidak bertanggung jawab.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9325"/>
            <a:ext cx="2381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62275"/>
            <a:ext cx="2190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62275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62275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05225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48175"/>
            <a:ext cx="219075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Kesimpulan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2185987"/>
            <a:ext cx="1081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Sinergi Saling Melengkapi: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Edge Computing tidak lahir untuk mematikan atau menggantikan Cloud Computing, melainkan menyempurnakannya dengan mengeliminasi masalah fatal latensi kritis dan hambatan bandwidth.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928937"/>
            <a:ext cx="1081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Distribusi Beban: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Arsitektur hierarkis Edge IoT (End Node Edge Gateway Cloud Server) memastikan beban tugas komputasi dan analitik terdistribusi secara logis.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671887"/>
            <a:ext cx="1081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Revolusi Ekstrem: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Kehadiran TinyML dan metodologi Kuantisasi memungkinkan algoritma pengenal pola yang sangat cerdas untuk dapat dijejalkan dan dieksekusi secara lokal pada otak mikrokontroler semurah ESP32.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4414837"/>
            <a:ext cx="10810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Visi Masa Depan: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 Sistem IoT dekade mendatang adalah sistem otonom yang tidak hanya pandai "merasakan"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sensing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lingkungan, tetapi juga mampu "memahami"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inferencing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 makna data secara mandiri tanpa harus terikat pada tali pusar koneksi internet.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2225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05175"/>
            <a:ext cx="2190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62375"/>
            <a:ext cx="23812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19575"/>
            <a:ext cx="23812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676775"/>
            <a:ext cx="14287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Referensi &amp; Daftar Pustaka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2528887"/>
            <a:ext cx="1081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Warden, P., &amp; Situnayake, D. (2019).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TinyML: Machine Learning with TensorFlow Lite on Arduino and Ultra-Low-Power Microcontrollers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. O'Reilly Media.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3271837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Situnayake, D. (2022). 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AI at the Edge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. O'Reilly Media.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3729037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Dokumentasi Resmi Edge Impulse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docs.edgeimpulse.com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). Referensi teknis implementasi model edge end-to-end.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4186237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TensorFlow Lite for Microcontrollers Guide (</a:t>
            </a:r>
            <a:r>
              <a:rPr sz="1500" b="0" i="1" u="none">
                <a:solidFill>
                  <a:srgbClr val="D0D7E1"/>
                </a:solidFill>
                <a:latin typeface="Inter"/>
              </a:rPr>
              <a:t>tensorflow.org/lite/microcontrollers</a:t>
            </a:r>
            <a:r>
              <a:rPr sz="1500" b="0" i="0" u="none">
                <a:solidFill>
                  <a:srgbClr val="D0D7E1"/>
                </a:solidFill>
                <a:latin typeface="Inter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4643437"/>
            <a:ext cx="11287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0D7E1"/>
                </a:solidFill>
                <a:latin typeface="Inter"/>
              </a:rPr>
              <a:t>Rencana Pembelajaran Semester (RPS) Komputasi Tepi Universitas, Dokumen Internal Pembelajaran Berbasis OBE.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87" y="1671637"/>
            <a:ext cx="1190625" cy="95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404812" y="2909887"/>
            <a:ext cx="13001625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00E5FF"/>
                </a:solidFill>
                <a:latin typeface="Urbanist"/>
              </a:rPr>
              <a:t>Sesi 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4014787"/>
            <a:ext cx="13001625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>
                <a:solidFill>
                  <a:srgbClr val="D0D7E1"/>
                </a:solidFill>
                <a:latin typeface="Inter"/>
              </a:rPr>
              <a:t>Ada pertanyaan teknis mengenai implementasi arsitektur atau optimasi algoritma TinyML?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04812" y="4957762"/>
            <a:ext cx="13001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72EFDD"/>
                </a:solidFill>
                <a:latin typeface="Inter"/>
              </a:rPr>
              <a:t>Terima Kasih atas Perhatian Anda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1150" y="1504950"/>
            <a:ext cx="90297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581150" y="2276475"/>
            <a:ext cx="90297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81150" y="3048000"/>
            <a:ext cx="90297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81150" y="3819525"/>
            <a:ext cx="90297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81150" y="4591050"/>
            <a:ext cx="90297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81150" y="2266950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81150" y="2266950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81150" y="3038475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81150" y="3038475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81150" y="3810000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81150" y="3810000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581150" y="4581525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81150" y="4581525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81150" y="5353050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581150" y="5353050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1647825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2419350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3190875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1150" y="3962400"/>
            <a:ext cx="857250" cy="476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1150" y="4733925"/>
            <a:ext cx="857250" cy="4762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1150" y="550545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Image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6525" y="1654968"/>
            <a:ext cx="951547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0D7E1"/>
                </a:solidFill>
                <a:latin typeface="Inter"/>
              </a:rPr>
              <a:t>https://iot-analytics.com/wp-content/uploads/2020/11/IoT-Edge-Computing-What-it-is-and-how-it-is-becoming-intelligentc-2-min.png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6525" y="1888331"/>
            <a:ext cx="951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iot-analytics.com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6525" y="2426493"/>
            <a:ext cx="951547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0D7E1"/>
                </a:solidFill>
                <a:latin typeface="Inter"/>
              </a:rPr>
              <a:t>https://winsystems.com/wp-content/uploads/2017/12/cloud-fog-edge_infographic.jpg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6525" y="2659856"/>
            <a:ext cx="951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winsystems.com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6525" y="3198018"/>
            <a:ext cx="951547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0D7E1"/>
                </a:solidFill>
                <a:latin typeface="Inter"/>
              </a:rPr>
              <a:t>https://www.frontiersin.org/files/Articles/1668545/xml-images/fpls-16-1668545-g003.webp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6525" y="3431381"/>
            <a:ext cx="951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www.frontiersin.org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6525" y="3969543"/>
            <a:ext cx="951547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0D7E1"/>
                </a:solidFill>
                <a:latin typeface="Inter"/>
              </a:rPr>
              <a:t>https://hackster.imgix.net/uploads/attachments/959933/1_tmQLQOTz6MxOG6LkI9WGCg.jpeg?auto=&amp;format=jpg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6525" y="4202906"/>
            <a:ext cx="951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www.hackster.io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6525" y="4741068"/>
            <a:ext cx="951547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0D7E1"/>
                </a:solidFill>
                <a:latin typeface="Inter"/>
              </a:rPr>
              <a:t>https://plant-e.com/wp-content/uploads/2018/04/Plant-e_Irna_power-device-1024x576.jpg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6525" y="4974431"/>
            <a:ext cx="951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plant-e.com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6525" y="5512593"/>
            <a:ext cx="951547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0D7E1"/>
                </a:solidFill>
                <a:latin typeface="Inter"/>
              </a:rPr>
              <a:t>https://ifactoryapp.com/assets/img/photos/motion-amplification-sensor.png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6525" y="5745956"/>
            <a:ext cx="951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ifactoryapp.com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3048000"/>
            <a:ext cx="9448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3810000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3810000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90875"/>
            <a:ext cx="857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96240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4375" y="476250"/>
            <a:ext cx="1147762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Urbanist"/>
              </a:rPr>
              <a:t>Image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6975" y="3198018"/>
            <a:ext cx="972502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0D7E1"/>
                </a:solidFill>
                <a:latin typeface="Inter"/>
              </a:rPr>
              <a:t>https://imgs.mongabay.com/wp-content/uploads/sites/20/2018/12/11105727/Camera-vision-module-mounted-on-a-tree_CSIRO-2141_small.jpg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6975" y="3431381"/>
            <a:ext cx="97250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news.mongabay.com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6975" y="3969543"/>
            <a:ext cx="972502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0D7E1"/>
                </a:solidFill>
                <a:latin typeface="Inter"/>
              </a:rPr>
              <a:t>https://iopcommunity.com/wp-content/uploads/2026/04/What-Is-Edge-Computing-in-IoT.webp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6975" y="4202906"/>
            <a:ext cx="97250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0D7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iopcommunity.com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3873</Words>
  <Application>Microsoft Office PowerPoint</Application>
  <PresentationFormat>Widescreen</PresentationFormat>
  <Paragraphs>321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monospace</vt:lpstr>
      <vt:lpstr>Urbanist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Asrul Abdullah</cp:lastModifiedBy>
  <cp:revision>2</cp:revision>
  <dcterms:created xsi:type="dcterms:W3CDTF">2013-01-27T09:14:16Z</dcterms:created>
  <dcterms:modified xsi:type="dcterms:W3CDTF">2026-09-21T04:04:24Z</dcterms:modified>
  <cp:category/>
</cp:coreProperties>
</file>