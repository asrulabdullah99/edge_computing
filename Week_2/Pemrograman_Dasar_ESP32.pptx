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Fira Code" panose="020B0809050000020004" pitchFamily="49" charset="0"/>
      <p:regular r:id="rId47"/>
      <p:bold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29999" y="2660302"/>
            <a:ext cx="393185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MODUL PEMBELAJARAN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928" y="3079402"/>
            <a:ext cx="5269994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F8FAFC"/>
                </a:solidFill>
                <a:latin typeface="Calibri"/>
              </a:rPr>
              <a:t>Pemrograman Dasar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55801" y="3902273"/>
            <a:ext cx="568039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>
                <a:solidFill>
                  <a:srgbClr val="94A3B8"/>
                </a:solidFill>
                <a:latin typeface="Calibri"/>
              </a:rPr>
              <a:t>Arsitektur, Setup IDE, dan Kendali GPIO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88009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72160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56310"/>
            <a:ext cx="2000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2522678" cy="3872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200" b="1" i="0" u="none" dirty="0">
                <a:solidFill>
                  <a:srgbClr val="0F172A"/>
                </a:solidFill>
                <a:latin typeface="Calibri"/>
              </a:rPr>
              <a:t>Agenda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49909"/>
            <a:ext cx="6588435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1" i="0" u="none" dirty="0">
                <a:solidFill>
                  <a:srgbClr val="334155"/>
                </a:solidFill>
                <a:latin typeface="Calibri"/>
              </a:rPr>
              <a:t>Bagian 1: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Calibri"/>
              </a:rPr>
              <a:t>Arsitektur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 Internal ESP32.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34060"/>
            <a:ext cx="6588435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1" i="0" u="none" dirty="0">
                <a:solidFill>
                  <a:srgbClr val="334155"/>
                </a:solidFill>
                <a:latin typeface="Calibri"/>
              </a:rPr>
              <a:t>Bagian 2: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 Setup </a:t>
            </a:r>
            <a:r>
              <a:rPr sz="2000" b="0" i="0" u="none" dirty="0" err="1">
                <a:solidFill>
                  <a:srgbClr val="334155"/>
                </a:solidFill>
                <a:latin typeface="Calibri"/>
              </a:rPr>
              <a:t>Lingkungan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Calibri"/>
              </a:rPr>
              <a:t>Pengembangan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18210"/>
            <a:ext cx="6588435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1" i="0" u="none" dirty="0">
                <a:solidFill>
                  <a:srgbClr val="334155"/>
                </a:solidFill>
                <a:latin typeface="Calibri"/>
              </a:rPr>
              <a:t>Bagian 3: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Calibri"/>
              </a:rPr>
              <a:t>Pemrograman</a:t>
            </a:r>
            <a:r>
              <a:rPr sz="2000" b="0" i="0" u="none" dirty="0">
                <a:solidFill>
                  <a:srgbClr val="334155"/>
                </a:solidFill>
                <a:latin typeface="Calibri"/>
              </a:rPr>
              <a:t> GPIO Dasar.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79273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18000" y="2703165"/>
            <a:ext cx="155599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2773" y="3122265"/>
            <a:ext cx="3246304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 dirty="0" err="1">
                <a:solidFill>
                  <a:srgbClr val="0F172A"/>
                </a:solidFill>
                <a:latin typeface="Calibri"/>
              </a:rPr>
              <a:t>Arsitektur</a:t>
            </a:r>
            <a:r>
              <a:rPr sz="2400" b="1" i="0" u="none" dirty="0">
                <a:solidFill>
                  <a:srgbClr val="0F172A"/>
                </a:solidFill>
                <a:latin typeface="Calibri"/>
              </a:rPr>
              <a:t> ESP32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203870"/>
            <a:ext cx="5105400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95860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8001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64160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48311"/>
            <a:ext cx="2000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2535118" cy="3872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200" b="1" i="0" u="none">
                <a:solidFill>
                  <a:srgbClr val="0F172A"/>
                </a:solidFill>
                <a:latin typeface="Calibri"/>
              </a:rPr>
              <a:t>Apa itu ESP32?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5776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Mikrokontroler berbiaya rendah.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4191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Konektivitas nirkabel ganda terintegrasi.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2606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Standar industri proyek IoT.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310211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Konsumsi daya sangat efisien.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7082" y="2338387"/>
            <a:ext cx="285768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ARSITEKTUR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41193" y="2757487"/>
            <a:ext cx="709612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284C7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3370" y="3748087"/>
            <a:ext cx="3745259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 dirty="0">
                <a:solidFill>
                  <a:srgbClr val="0F172A"/>
                </a:solidFill>
                <a:latin typeface="Calibri"/>
              </a:rPr>
              <a:t>Core </a:t>
            </a:r>
            <a:r>
              <a:rPr sz="2199" b="1" i="0" u="none" dirty="0" err="1">
                <a:solidFill>
                  <a:srgbClr val="0F172A"/>
                </a:solidFill>
                <a:latin typeface="Calibri"/>
              </a:rPr>
              <a:t>Prosesor</a:t>
            </a:r>
            <a:r>
              <a:rPr sz="2199" b="1" i="0" u="none" dirty="0">
                <a:solidFill>
                  <a:srgbClr val="0F172A"/>
                </a:solidFill>
                <a:latin typeface="Calibri"/>
              </a:rPr>
              <a:t> </a:t>
            </a:r>
            <a:r>
              <a:rPr sz="2199" b="1" i="0" u="none" dirty="0" err="1">
                <a:solidFill>
                  <a:srgbClr val="0F172A"/>
                </a:solidFill>
                <a:latin typeface="Calibri"/>
              </a:rPr>
              <a:t>Mandiri</a:t>
            </a:r>
            <a:endParaRPr sz="2199" b="1" i="0" u="none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81716" y="4224337"/>
            <a:ext cx="382841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>
                <a:solidFill>
                  <a:srgbClr val="475569"/>
                </a:solidFill>
                <a:latin typeface="Calibri"/>
              </a:rPr>
              <a:t>Tensilica Xtensa 32-bit LX6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1931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66082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50232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81931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466082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050232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Pembagian Tugas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03870"/>
            <a:ext cx="6700837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PRO_CPU (Core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203870"/>
            <a:ext cx="5867400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APP_CPU (Core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43831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Eksekusi tugas latar sistem.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27982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Pemeliharaan koneksi Wi-Fi.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12132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Tumpukan protokol Bluetooth.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1843831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Eksekusi program pengguna.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2427982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Fungsi inisialisasi awal.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012132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Fungsi perulangan utama.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263824"/>
            <a:ext cx="3352800" cy="2924472"/>
          </a:xfrm>
          <a:prstGeom prst="roundRect">
            <a:avLst>
              <a:gd name="adj" fmla="val 52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431405"/>
            <a:ext cx="3352800" cy="2589311"/>
          </a:xfrm>
          <a:prstGeom prst="roundRect">
            <a:avLst>
              <a:gd name="adj" fmla="val 58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431405"/>
            <a:ext cx="3352800" cy="2589311"/>
          </a:xfrm>
          <a:prstGeom prst="roundRect">
            <a:avLst>
              <a:gd name="adj" fmla="val 58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654349"/>
            <a:ext cx="33337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2821930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2821930"/>
            <a:ext cx="4762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Peran Sistem FreeRTOS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263949"/>
            <a:ext cx="28003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Sistem Waktu Nyata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08667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Manajemen tugas serentak.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431530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Koneksi Stabil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391909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Transmisi latar tanpa jeda.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431530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Pembagian Beban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391909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Penjadwalan proses otomatis.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Peta Memori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3631" y="3170485"/>
            <a:ext cx="1874490" cy="6350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5000" b="1" i="0" u="none">
                <a:solidFill>
                  <a:srgbClr val="0284C7"/>
                </a:solidFill>
                <a:latin typeface="Calibri"/>
              </a:rPr>
              <a:t>448</a:t>
            </a:r>
            <a:r>
              <a:rPr sz="3000" b="1" i="0" u="none">
                <a:solidFill>
                  <a:srgbClr val="0284C7"/>
                </a:solidFill>
                <a:latin typeface="Calibri"/>
              </a:rPr>
              <a:t>KB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3631" y="3957935"/>
            <a:ext cx="187449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ROM Inti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6921" y="3170485"/>
            <a:ext cx="2192610" cy="6350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5000" b="1" i="0" u="none">
                <a:solidFill>
                  <a:srgbClr val="0284C7"/>
                </a:solidFill>
                <a:latin typeface="Calibri"/>
              </a:rPr>
              <a:t>520</a:t>
            </a:r>
            <a:r>
              <a:rPr sz="3000" b="1" i="0" u="none">
                <a:solidFill>
                  <a:srgbClr val="0284C7"/>
                </a:solidFill>
                <a:latin typeface="Calibri"/>
              </a:rPr>
              <a:t>KB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6921" y="3957935"/>
            <a:ext cx="219261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SRAM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7656" y="3170485"/>
            <a:ext cx="2581237" cy="6350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5000" b="1" i="0" u="none">
                <a:solidFill>
                  <a:srgbClr val="0284C7"/>
                </a:solidFill>
                <a:latin typeface="Calibri"/>
              </a:rPr>
              <a:t>4</a:t>
            </a:r>
            <a:r>
              <a:rPr sz="3000" b="1" i="0" u="none">
                <a:solidFill>
                  <a:srgbClr val="0284C7"/>
                </a:solidFill>
                <a:latin typeface="Calibri"/>
              </a:rPr>
              <a:t>MB+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7656" y="3957935"/>
            <a:ext cx="258123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Flash Eksternal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709" y="1203870"/>
            <a:ext cx="4084290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280" y="2964060"/>
            <a:ext cx="1143000" cy="152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958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0010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6416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48311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Mode Deep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57760"/>
            <a:ext cx="727713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Menggunakan modul RTC Memory.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41910"/>
            <a:ext cx="727713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Kapasitas penyimpanan ultra-kecil.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26060"/>
            <a:ext cx="727713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Menjaga variabel saat tidur lelap.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10211"/>
            <a:ext cx="727713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Menghemat daya baterai ekstrim.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9254"/>
            <a:ext cx="5181600" cy="2233761"/>
          </a:xfrm>
          <a:prstGeom prst="roundRect">
            <a:avLst>
              <a:gd name="adj" fmla="val 68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09254"/>
            <a:ext cx="5181600" cy="2233761"/>
          </a:xfrm>
          <a:prstGeom prst="roundRect">
            <a:avLst>
              <a:gd name="adj" fmla="val 68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999779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999779"/>
            <a:ext cx="47625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Kapabilitas Periferal Terintegrasi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609379"/>
            <a:ext cx="57757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34 Pin GPIO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4096940"/>
            <a:ext cx="550068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Fungsi multiplexing dinamis adaptif.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609379"/>
            <a:ext cx="5553075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Modul Bawaan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96940"/>
            <a:ext cx="550068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Konverter ADC dan sensor sentuh.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79273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18000" y="2703165"/>
            <a:ext cx="155599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1446" y="3122265"/>
            <a:ext cx="3489107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Setup Lingkungan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1931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66082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50232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81931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466082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050232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Pilihan Editor Kode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03870"/>
            <a:ext cx="6700837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284C7"/>
                </a:solidFill>
                <a:latin typeface="Calibri"/>
              </a:rPr>
              <a:t>Arduino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203870"/>
            <a:ext cx="5867400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EA580C"/>
                </a:solidFill>
                <a:latin typeface="Calibri"/>
              </a:rPr>
              <a:t>PlatformIO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43831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Sangat ramah pemula.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27982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Konfigurasi visual sederhana.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12132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Standar edukasi IoT dasar.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1843831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Standar industri profesional.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2427982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Manajemen pustaka otomatis.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012132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Terintegrasi dengan VS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490" y="1203870"/>
            <a:ext cx="6126509" cy="5305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18383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02533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86683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Opsi A: Arduino 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80283"/>
            <a:ext cx="4724362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Unduh rilis versi 2.x terbaru.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64433"/>
            <a:ext cx="4724362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Akses situs resmi arduino.cc.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48583"/>
            <a:ext cx="4724362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Jalankan instalasi standar 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7967" y="2512665"/>
            <a:ext cx="137606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TAHAP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130" y="2931765"/>
            <a:ext cx="441559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Konfigurasi URL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3754635"/>
            <a:ext cx="9525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 u="none">
                <a:solidFill>
                  <a:srgbClr val="475569"/>
                </a:solidFill>
                <a:latin typeface="Calibri"/>
              </a:rPr>
              <a:t>Buka menu Preferences dan tambahkan tautan repositori eksternal Espressif ke dalam sistem.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54485"/>
            <a:ext cx="10668000" cy="2343150"/>
          </a:xfrm>
          <a:prstGeom prst="roundRect">
            <a:avLst>
              <a:gd name="adj" fmla="val 487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Tautan Repositori 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859285"/>
            <a:ext cx="10153650" cy="1733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64748B"/>
                </a:solidFill>
                <a:latin typeface="Fira Code"/>
              </a:rPr>
              <a:t>// Masukkan URL ini ke Additional Boards Manager URLs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https://raw.githubusercontent.com/espressif/arduino-esp32/ gh-pages/package_esp32_index.json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53" y="1203870"/>
            <a:ext cx="5105846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502" y="3154560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958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0010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6416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48311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Tahap 2: Instalasi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5776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Buka menu Boards Manager.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4191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Cari modul "esp32" di kolom.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2606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Pilih paket buatan Espressif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10211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Klik tombol instalasi paket.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53" y="1203870"/>
            <a:ext cx="5105846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377" y="3154560"/>
            <a:ext cx="85725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958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0010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6416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348311"/>
            <a:ext cx="20002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Tahap 3: Pemilihan Perangkat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5776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Buka menu Tools dan pilih 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4191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Pilih model "DOIT ESP32 DEVKIT".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2606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Hubungkan papan ke kabel USB.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10211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Tentukan port serial aktif komputer.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431405"/>
            <a:ext cx="3352800" cy="2589311"/>
          </a:xfrm>
          <a:prstGeom prst="roundRect">
            <a:avLst>
              <a:gd name="adj" fmla="val 58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253704"/>
            <a:ext cx="3352800" cy="2944862"/>
          </a:xfrm>
          <a:prstGeom prst="roundRect">
            <a:avLst>
              <a:gd name="adj" fmla="val 51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431405"/>
            <a:ext cx="3352800" cy="2589311"/>
          </a:xfrm>
          <a:prstGeom prst="roundRect">
            <a:avLst>
              <a:gd name="adj" fmla="val 58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821930"/>
            <a:ext cx="428625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2644229"/>
            <a:ext cx="47625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2821930"/>
            <a:ext cx="333375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Keunggulan PlatformIO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431530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Autocomplete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1909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Penulisan kode otomatis cerdas.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253829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Pustaka Otomatis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3741390"/>
            <a:ext cx="2667000" cy="1066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Manajemen dependensi proyek terpusat.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431530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Kompilasi Cepat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391909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Proses pembuatan biner instan.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490" y="1203870"/>
            <a:ext cx="6126509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32459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721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5631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Opsi B: Ekosistem PlatformIO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94359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Berjalan di dalam editor VS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34060"/>
            <a:ext cx="4724362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Antarmuka gelap profesional.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18210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Mengelola seluruh rantai alat otomasi.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Instalasi PlatformIO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37" y="3170485"/>
            <a:ext cx="2444874" cy="6350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5000" b="1" i="0" u="none">
                <a:solidFill>
                  <a:srgbClr val="0284C7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37" y="3957935"/>
            <a:ext cx="2444874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Instal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9349" y="3170485"/>
            <a:ext cx="2638722" cy="6350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5000" b="1" i="0" u="none">
                <a:solidFill>
                  <a:srgbClr val="0284C7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9349" y="3957935"/>
            <a:ext cx="263872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Unduh Ekstensi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444" y="3170485"/>
            <a:ext cx="2987538" cy="6350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5000" b="1" i="0" u="none">
                <a:solidFill>
                  <a:srgbClr val="0284C7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444" y="3957935"/>
            <a:ext cx="298753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Muat Ulang Editor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9254"/>
            <a:ext cx="5181600" cy="2233761"/>
          </a:xfrm>
          <a:prstGeom prst="roundRect">
            <a:avLst>
              <a:gd name="adj" fmla="val 68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609254"/>
            <a:ext cx="5181600" cy="2233761"/>
          </a:xfrm>
          <a:prstGeom prst="roundRect">
            <a:avLst>
              <a:gd name="adj" fmla="val 68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999779"/>
            <a:ext cx="428625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999779"/>
            <a:ext cx="381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Memulai Proyek Baru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609379"/>
            <a:ext cx="57757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Akses Beranda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4096940"/>
            <a:ext cx="550068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Buka antarmuka utama PIO Home.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609379"/>
            <a:ext cx="5553075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Pilih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096940"/>
            <a:ext cx="550068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Papan Espressif ESP32 Dev Module.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40135"/>
            <a:ext cx="10668000" cy="3371850"/>
          </a:xfrm>
          <a:prstGeom prst="roundRect">
            <a:avLst>
              <a:gd name="adj" fmla="val 338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File Konfigurasi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344935"/>
            <a:ext cx="10153650" cy="2762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64748B"/>
                </a:solidFill>
                <a:latin typeface="Fira Code"/>
              </a:rPr>
              <a:t>; platformio.ini - File konfigurasi proyek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[env:esp32dev] platform = espressif32 board = esp32dev framework = arduino monitor_speed = 115200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24600" y="2040135"/>
            <a:ext cx="5105400" cy="3371850"/>
          </a:xfrm>
          <a:prstGeom prst="roundRect">
            <a:avLst>
              <a:gd name="adj" fmla="val 338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10160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9431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7846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Struktur Direktori 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344935"/>
            <a:ext cx="4591050" cy="2762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E2E8F0"/>
                </a:solidFill>
                <a:latin typeface="Fira Code"/>
              </a:rPr>
              <a:t>Proyek_Pertama/ ├── .pio/ ├── include/ ├── lib/ ├── src/ │ └── </a:t>
            </a:r>
            <a:r>
              <a:rPr sz="1800" b="0" i="0" u="none">
                <a:solidFill>
                  <a:srgbClr val="A3E635"/>
                </a:solidFill>
                <a:latin typeface="Fira Code"/>
              </a:rPr>
              <a:t>main.cpp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└── </a:t>
            </a:r>
            <a:r>
              <a:rPr sz="1800" b="0" i="0" u="none">
                <a:solidFill>
                  <a:srgbClr val="38BDF8"/>
                </a:solidFill>
                <a:latin typeface="Fira Code"/>
              </a:rPr>
              <a:t>platformio.ini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7206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Pemisahan kode dan konfigurasi ketat.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5621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Folder kode sumber terisolasi.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360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Wajib menyertakan pustaka dasar manual.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1931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21632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81931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466082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Perbandingan Kompilasi Kode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03870"/>
            <a:ext cx="6700837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Arduino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203870"/>
            <a:ext cx="5867400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284C7"/>
                </a:solidFill>
                <a:latin typeface="Calibri"/>
              </a:rPr>
              <a:t>PlatformIO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43831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Membangun ulang seluruh berkas lambat.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3532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Proses tersembunyi di latar belakang.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843831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Membangun diferensial sangat cepat.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427982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Log terminal informatif transparan.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609254"/>
            <a:ext cx="5181600" cy="2233761"/>
          </a:xfrm>
          <a:prstGeom prst="roundRect">
            <a:avLst>
              <a:gd name="adj" fmla="val 68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431405"/>
            <a:ext cx="5181600" cy="2589311"/>
          </a:xfrm>
          <a:prstGeom prst="roundRect">
            <a:avLst>
              <a:gd name="adj" fmla="val 58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999779"/>
            <a:ext cx="47625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821930"/>
            <a:ext cx="381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Ringkasan Pemilihan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609379"/>
            <a:ext cx="57757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Edukasi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4096940"/>
            <a:ext cx="5500687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Gunakan Arduino IDE sederhana.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431530"/>
            <a:ext cx="5553075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Produksi Komersial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919091"/>
            <a:ext cx="44958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Gunakan ekosistem PlatformIO modern.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79273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18000" y="2703165"/>
            <a:ext cx="155599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3576" y="3122265"/>
            <a:ext cx="5024846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Pemrograman GPIO Dasar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203870"/>
            <a:ext cx="5105400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32459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721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5631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Antarmuka Dunia 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94359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Penghubung mikrokontroler dengan komponen fisik.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3406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Fungsi input membaca variasi tegangan.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18210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Fungsi output memberikan suplai tegangan.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42166" y="2338387"/>
            <a:ext cx="330751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EA580C"/>
                </a:solidFill>
                <a:latin typeface="Calibri"/>
              </a:rPr>
              <a:t>PERINGATAN KERAS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16171" y="2757487"/>
            <a:ext cx="195950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EA580C"/>
                </a:solidFill>
                <a:latin typeface="Calibri"/>
              </a:rPr>
              <a:t>3.3V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4588" y="3748087"/>
            <a:ext cx="556282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99" b="1" i="0" u="none">
                <a:solidFill>
                  <a:srgbClr val="0F172A"/>
                </a:solidFill>
                <a:latin typeface="Calibri"/>
              </a:rPr>
              <a:t>Batas Tegangan Logika Maksimal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1820" y="4224337"/>
            <a:ext cx="9368358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>
                <a:solidFill>
                  <a:srgbClr val="475569"/>
                </a:solidFill>
                <a:latin typeface="Calibri"/>
              </a:rPr>
              <a:t>Memberikan tegangan 5V langsung akan merusak chip permanen!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36205"/>
            <a:ext cx="3352800" cy="1979711"/>
          </a:xfrm>
          <a:prstGeom prst="roundRect">
            <a:avLst>
              <a:gd name="adj" fmla="val 7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736205"/>
            <a:ext cx="3352800" cy="1979711"/>
          </a:xfrm>
          <a:prstGeom prst="roundRect">
            <a:avLst>
              <a:gd name="adj" fmla="val 7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58504"/>
            <a:ext cx="3352800" cy="2335262"/>
          </a:xfrm>
          <a:prstGeom prst="roundRect">
            <a:avLst>
              <a:gd name="adj" fmla="val 6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Tiga Fungsi Utama Interaksi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126730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284C7"/>
                </a:solidFill>
                <a:latin typeface="Fira Code"/>
              </a:rPr>
              <a:t>pinMode()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61429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Menetapkan arah aliran sinyal pin.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0125" y="3126730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284C7"/>
                </a:solidFill>
                <a:latin typeface="Fira Code"/>
              </a:rPr>
              <a:t>digitalWrite()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0125" y="3614291"/>
            <a:ext cx="26670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Menuliskan sinyal tegangan keluar fisik.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725" y="2949029"/>
            <a:ext cx="3375421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284C7"/>
                </a:solidFill>
                <a:latin typeface="Fira Code"/>
              </a:rPr>
              <a:t>digitalRead()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3436590"/>
            <a:ext cx="2667000" cy="1066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Membaca kondisi sinyal tegangan masuk.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1398835"/>
            <a:ext cx="4800600" cy="1979711"/>
          </a:xfrm>
          <a:prstGeom prst="roundRect">
            <a:avLst>
              <a:gd name="adj" fmla="val 7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1398835"/>
            <a:ext cx="4800600" cy="1979711"/>
          </a:xfrm>
          <a:prstGeom prst="roundRect">
            <a:avLst>
              <a:gd name="adj" fmla="val 7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43000" y="4073425"/>
            <a:ext cx="4800600" cy="1979711"/>
          </a:xfrm>
          <a:prstGeom prst="roundRect">
            <a:avLst>
              <a:gd name="adj" fmla="val 7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073425"/>
            <a:ext cx="4800600" cy="1979711"/>
          </a:xfrm>
          <a:prstGeom prst="roundRect">
            <a:avLst>
              <a:gd name="adj" fmla="val 769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Pin Input Khusus Terbatas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525" y="1789360"/>
            <a:ext cx="5275659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GPIO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3525" y="2276921"/>
            <a:ext cx="41148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Hanya menerima fungsi pembacaan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1789360"/>
            <a:ext cx="5275659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GPIO 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276921"/>
            <a:ext cx="41148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Hanya menerima fungsi pembacaan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3525" y="4463950"/>
            <a:ext cx="5275659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GPIO 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3525" y="4951511"/>
            <a:ext cx="41148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Hanya menerima fungsi pembacaan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4463950"/>
            <a:ext cx="5275659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F172A"/>
                </a:solidFill>
                <a:latin typeface="Calibri"/>
              </a:rPr>
              <a:t>GPIO 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4951511"/>
            <a:ext cx="411480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475569"/>
                </a:solidFill>
                <a:latin typeface="Calibri"/>
              </a:rPr>
              <a:t>Hanya menerima fungsi pembacaan input.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79273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53489" y="2703165"/>
            <a:ext cx="24848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STUDI KASUS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4493" y="3122265"/>
            <a:ext cx="322286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Blink LED Digital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53" y="1203870"/>
            <a:ext cx="5105846" cy="504452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377" y="3154560"/>
            <a:ext cx="85725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101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94310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878460"/>
            <a:ext cx="200025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Rangkaian Indikator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7206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Mayoritas papan memiliki lampu bawaan.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56210"/>
            <a:ext cx="6000191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Secara fisik terhubung menuju GPIO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40360"/>
            <a:ext cx="4819203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Membutuhkan perintah keluaran sinyal tinggi.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490" y="2383035"/>
            <a:ext cx="6126509" cy="26860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54609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9431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34011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Tahap Inisialisasi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8290" y="2687835"/>
            <a:ext cx="5612159" cy="136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38BDF8"/>
                </a:solidFill>
                <a:latin typeface="Fira Code"/>
              </a:rPr>
              <a:t>const int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ledPin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= </a:t>
            </a:r>
            <a:r>
              <a:rPr sz="1800" b="0" i="0" u="none" dirty="0">
                <a:solidFill>
                  <a:srgbClr val="F9A8D4"/>
                </a:solidFill>
                <a:latin typeface="Fira Code"/>
              </a:rPr>
              <a:t>2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38BDF8"/>
                </a:solidFill>
                <a:latin typeface="Fira Code"/>
              </a:rPr>
              <a:t>void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 dirty="0">
                <a:solidFill>
                  <a:srgbClr val="FCD34D"/>
                </a:solidFill>
                <a:latin typeface="Fira Code"/>
              </a:rPr>
              <a:t>setup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() {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</a:t>
            </a:r>
            <a:r>
              <a:rPr sz="1800" b="0" i="0" u="none" dirty="0" err="1">
                <a:solidFill>
                  <a:srgbClr val="FCD34D"/>
                </a:solidFill>
                <a:latin typeface="Fira Code"/>
              </a:rPr>
              <a:t>pinMode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ledPin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, OUTPUT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); </a:t>
            </a:r>
            <a:endParaRPr lang="en-US" sz="1800" b="0" i="0" u="none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E2E8F0"/>
                </a:solidFill>
                <a:latin typeface="Fira Code"/>
              </a:rPr>
              <a:t>}</a:t>
            </a:r>
            <a:endParaRPr sz="1800" b="0" i="0" u="none" dirty="0">
              <a:solidFill>
                <a:srgbClr val="E2E8F0"/>
              </a:solidFill>
              <a:latin typeface="Fira Code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316509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Mendefinisikan alias pin nomor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56210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Mengatur pin mode sebagai keluaran.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95911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Berjalan tunggal saat awal penyalaan.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040135"/>
            <a:ext cx="10668000" cy="3371850"/>
          </a:xfrm>
          <a:prstGeom prst="roundRect">
            <a:avLst>
              <a:gd name="adj" fmla="val 338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Tahap Eksekusi Perulangan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344935"/>
            <a:ext cx="10153650" cy="2762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Fira Code"/>
              </a:rPr>
              <a:t>void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>
                <a:solidFill>
                  <a:srgbClr val="FCD34D"/>
                </a:solidFill>
                <a:latin typeface="Fira Code"/>
              </a:rPr>
              <a:t>loop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() { </a:t>
            </a:r>
            <a:r>
              <a:rPr sz="1800" b="0" i="0" u="none">
                <a:solidFill>
                  <a:srgbClr val="FCD34D"/>
                </a:solidFill>
                <a:latin typeface="Fira Code"/>
              </a:rPr>
              <a:t>digitalWrite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(ledPin, HIGH); </a:t>
            </a:r>
            <a:r>
              <a:rPr sz="1800" b="0" i="0" u="none">
                <a:solidFill>
                  <a:srgbClr val="64748B"/>
                </a:solidFill>
                <a:latin typeface="Fira Code"/>
              </a:rPr>
              <a:t>// Nyalakan (3.3V)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>
                <a:solidFill>
                  <a:srgbClr val="FCD34D"/>
                </a:solidFill>
                <a:latin typeface="Fira Code"/>
              </a:rPr>
              <a:t>delay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>
                <a:solidFill>
                  <a:srgbClr val="F9A8D4"/>
                </a:solidFill>
                <a:latin typeface="Fira Code"/>
              </a:rPr>
              <a:t>1000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); </a:t>
            </a:r>
            <a:r>
              <a:rPr sz="1800" b="0" i="0" u="none">
                <a:solidFill>
                  <a:srgbClr val="64748B"/>
                </a:solidFill>
                <a:latin typeface="Fira Code"/>
              </a:rPr>
              <a:t>// Tunggu 1 detik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>
                <a:solidFill>
                  <a:srgbClr val="FCD34D"/>
                </a:solidFill>
                <a:latin typeface="Fira Code"/>
              </a:rPr>
              <a:t>digitalWrite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(ledPin, LOW); </a:t>
            </a:r>
            <a:r>
              <a:rPr sz="1800" b="0" i="0" u="none">
                <a:solidFill>
                  <a:srgbClr val="64748B"/>
                </a:solidFill>
                <a:latin typeface="Fira Code"/>
              </a:rPr>
              <a:t>// Matikan (0V)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>
                <a:solidFill>
                  <a:srgbClr val="FCD34D"/>
                </a:solidFill>
                <a:latin typeface="Fira Code"/>
              </a:rPr>
              <a:t>delay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>
                <a:solidFill>
                  <a:srgbClr val="F9A8D4"/>
                </a:solidFill>
                <a:latin typeface="Fira Code"/>
              </a:rPr>
              <a:t>1000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); </a:t>
            </a:r>
            <a:r>
              <a:rPr sz="1800" b="0" i="0" u="none">
                <a:solidFill>
                  <a:srgbClr val="64748B"/>
                </a:solidFill>
                <a:latin typeface="Fira Code"/>
              </a:rPr>
              <a:t>// Tunggu 1 detik</a:t>
            </a:r>
            <a:r>
              <a:rPr sz="1800" b="0" i="0" u="none">
                <a:solidFill>
                  <a:srgbClr val="E2E8F0"/>
                </a:solidFill>
                <a:latin typeface="Fira Code"/>
              </a:rPr>
              <a:t>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792735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53489" y="2703165"/>
            <a:ext cx="24848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Calibri"/>
              </a:rPr>
              <a:t>STUDI KASUS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62798" y="3122265"/>
            <a:ext cx="346625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Input Push Button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203870"/>
            <a:ext cx="5105400" cy="510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40669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2482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0897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Membaca Sinyal Fisik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02569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Gunakan pin GPIO 4 bacaan.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86720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Hubungkan satu kaki menuju 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0870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Tombol ditekan menyambungkan sirkuit logika.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81931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66082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81931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466082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3618939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 err="1">
                <a:solidFill>
                  <a:srgbClr val="0F172A"/>
                </a:solidFill>
                <a:latin typeface="Calibri"/>
              </a:rPr>
              <a:t>Konsep</a:t>
            </a:r>
            <a:r>
              <a:rPr sz="2800" b="1" i="0" u="none" dirty="0">
                <a:solidFill>
                  <a:srgbClr val="0F172A"/>
                </a:solidFill>
                <a:latin typeface="Calibri"/>
              </a:rPr>
              <a:t> Resistor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03870"/>
            <a:ext cx="6700837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EA580C"/>
                </a:solidFill>
                <a:latin typeface="Calibri"/>
              </a:rPr>
              <a:t>Tanpa Pull-Up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203870"/>
            <a:ext cx="5867400" cy="335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199" b="1" i="0" u="none">
                <a:solidFill>
                  <a:srgbClr val="0284C7"/>
                </a:solidFill>
                <a:latin typeface="Calibri"/>
              </a:rPr>
              <a:t>Dengan Pull-Up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43831"/>
            <a:ext cx="600075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Sinyal listrik mengambang tidak pasti.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7982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Memicu kesalahan pembacaan palsu acak.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843831"/>
            <a:ext cx="5486400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Tegangan stabil tertahan level tinggi.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427982"/>
            <a:ext cx="481965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Menghilangkan kebutuhan komponen resistor eksternal.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03490" y="2040135"/>
            <a:ext cx="6126509" cy="3371850"/>
          </a:xfrm>
          <a:prstGeom prst="roundRect">
            <a:avLst>
              <a:gd name="adj" fmla="val 338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32459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7216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1186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14300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Konfigurasi Jalur Tombol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8290" y="2344935"/>
            <a:ext cx="5612159" cy="20588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38BDF8"/>
                </a:solidFill>
                <a:latin typeface="Fira Code"/>
              </a:rPr>
              <a:t>const int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buttonPin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= </a:t>
            </a:r>
            <a:r>
              <a:rPr sz="1800" b="0" i="0" u="none" dirty="0">
                <a:solidFill>
                  <a:srgbClr val="F9A8D4"/>
                </a:solidFill>
                <a:latin typeface="Fira Code"/>
              </a:rPr>
              <a:t>4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38BDF8"/>
                </a:solidFill>
                <a:latin typeface="Fira Code"/>
              </a:rPr>
              <a:t>int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buttonState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= </a:t>
            </a:r>
            <a:r>
              <a:rPr sz="1800" b="0" i="0" u="none" dirty="0">
                <a:solidFill>
                  <a:srgbClr val="F9A8D4"/>
                </a:solidFill>
                <a:latin typeface="Fira Code"/>
              </a:rPr>
              <a:t>0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38BDF8"/>
                </a:solidFill>
                <a:latin typeface="Fira Code"/>
              </a:rPr>
              <a:t>void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 dirty="0">
                <a:solidFill>
                  <a:srgbClr val="FCD34D"/>
                </a:solidFill>
                <a:latin typeface="Fira Code"/>
              </a:rPr>
              <a:t>setup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() {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</a:t>
            </a:r>
            <a:r>
              <a:rPr sz="1800" b="0" i="0" u="none" dirty="0" err="1">
                <a:solidFill>
                  <a:srgbClr val="FCD34D"/>
                </a:solidFill>
                <a:latin typeface="Fira Code"/>
              </a:rPr>
              <a:t>Serial.begin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>
                <a:solidFill>
                  <a:srgbClr val="F9A8D4"/>
                </a:solidFill>
                <a:latin typeface="Fira Code"/>
              </a:rPr>
              <a:t>115200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); </a:t>
            </a:r>
            <a:r>
              <a:rPr lang="en-US" sz="1800" b="0" i="0" u="none" dirty="0">
                <a:solidFill>
                  <a:srgbClr val="E2E8F0"/>
                </a:solidFill>
                <a:latin typeface="Fira Code"/>
              </a:rPr>
              <a:t>	</a:t>
            </a:r>
            <a:r>
              <a:rPr sz="1800" b="0" i="0" u="none" dirty="0" err="1">
                <a:solidFill>
                  <a:srgbClr val="FCD34D"/>
                </a:solidFill>
                <a:latin typeface="Fira Code"/>
              </a:rPr>
              <a:t>pinMode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buttonPin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, INPUT_PULLUP);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E2E8F0"/>
                </a:solidFill>
                <a:latin typeface="Fira Code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94359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Inisialisasi komunikasi monitor serial.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34060"/>
            <a:ext cx="3798540" cy="71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Aktifkan parameter resistor internal bawaan.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73760"/>
            <a:ext cx="4724362" cy="355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sz="2000" b="0" i="0" u="none">
                <a:solidFill>
                  <a:srgbClr val="334155"/>
                </a:solidFill>
                <a:latin typeface="Calibri"/>
              </a:rPr>
              <a:t>Status awal logika nilai tinggi.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203870"/>
            <a:ext cx="10668000" cy="5086350"/>
          </a:xfrm>
          <a:prstGeom prst="roundRect">
            <a:avLst>
              <a:gd name="adj" fmla="val 2247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3924536" cy="3736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800" b="1" i="0" u="none" dirty="0" err="1">
                <a:solidFill>
                  <a:srgbClr val="0F172A"/>
                </a:solidFill>
                <a:latin typeface="Calibri"/>
              </a:rPr>
              <a:t>Logika</a:t>
            </a:r>
            <a:r>
              <a:rPr sz="2800" b="1" i="0" u="none" dirty="0">
                <a:solidFill>
                  <a:srgbClr val="0F172A"/>
                </a:solidFill>
                <a:latin typeface="Calibri"/>
              </a:rPr>
              <a:t> </a:t>
            </a:r>
            <a:r>
              <a:rPr sz="2800" b="1" i="0" u="none" dirty="0" err="1">
                <a:solidFill>
                  <a:srgbClr val="0F172A"/>
                </a:solidFill>
                <a:latin typeface="Calibri"/>
              </a:rPr>
              <a:t>Pembacaan</a:t>
            </a:r>
            <a:r>
              <a:rPr sz="2800" b="1" i="0" u="none" dirty="0">
                <a:solidFill>
                  <a:srgbClr val="0F172A"/>
                </a:solidFill>
                <a:latin typeface="Calibri"/>
              </a:rPr>
              <a:t> </a:t>
            </a:r>
            <a:r>
              <a:rPr sz="2800" b="1" i="0" u="none" dirty="0" err="1">
                <a:solidFill>
                  <a:srgbClr val="0F172A"/>
                </a:solidFill>
                <a:latin typeface="Calibri"/>
              </a:rPr>
              <a:t>Sakelar</a:t>
            </a:r>
            <a:endParaRPr sz="2800" b="1" i="0" u="none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1508670"/>
            <a:ext cx="10153650" cy="3097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38BDF8"/>
                </a:solidFill>
                <a:latin typeface="Fira Code"/>
              </a:rPr>
              <a:t>void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</a:t>
            </a:r>
            <a:r>
              <a:rPr sz="1800" b="0" i="0" u="none" dirty="0">
                <a:solidFill>
                  <a:srgbClr val="FCD34D"/>
                </a:solidFill>
                <a:latin typeface="Fira Code"/>
              </a:rPr>
              <a:t>loop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() {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buttonState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= </a:t>
            </a:r>
            <a:r>
              <a:rPr sz="1800" b="0" i="0" u="none" dirty="0" err="1">
                <a:solidFill>
                  <a:srgbClr val="FCD34D"/>
                </a:solidFill>
                <a:latin typeface="Fira Code"/>
              </a:rPr>
              <a:t>digitalRead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buttonPin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);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	</a:t>
            </a:r>
            <a:r>
              <a:rPr sz="1800" b="0" i="0" u="none" dirty="0">
                <a:solidFill>
                  <a:srgbClr val="38BDF8"/>
                </a:solidFill>
                <a:latin typeface="Fira Code"/>
              </a:rPr>
              <a:t>if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(</a:t>
            </a:r>
            <a:r>
              <a:rPr sz="1800" b="0" i="0" u="none" dirty="0" err="1">
                <a:solidFill>
                  <a:srgbClr val="E2E8F0"/>
                </a:solidFill>
                <a:latin typeface="Fira Code"/>
              </a:rPr>
              <a:t>buttonState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== LOW) {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			</a:t>
            </a:r>
            <a:r>
              <a:rPr sz="1800" b="0" i="0" u="none" dirty="0" err="1">
                <a:solidFill>
                  <a:srgbClr val="FCD34D"/>
                </a:solidFill>
                <a:latin typeface="Fira Code"/>
              </a:rPr>
              <a:t>Serial.println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"</a:t>
            </a:r>
            <a:r>
              <a:rPr sz="1800" b="0" i="0" u="none" dirty="0" err="1">
                <a:solidFill>
                  <a:srgbClr val="A3E635"/>
                </a:solidFill>
                <a:latin typeface="Fira Code"/>
              </a:rPr>
              <a:t>Tombol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A3E635"/>
                </a:solidFill>
                <a:latin typeface="Fira Code"/>
              </a:rPr>
              <a:t>Ditekan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A3E635"/>
                </a:solidFill>
                <a:latin typeface="Fira Code"/>
              </a:rPr>
              <a:t>Aktif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!"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);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	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} </a:t>
            </a:r>
            <a:r>
              <a:rPr sz="1800" b="0" i="0" u="none" dirty="0">
                <a:solidFill>
                  <a:srgbClr val="38BDF8"/>
                </a:solidFill>
                <a:latin typeface="Fira Code"/>
              </a:rPr>
              <a:t>else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 {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			</a:t>
            </a:r>
            <a:r>
              <a:rPr sz="1800" b="0" i="0" u="none" dirty="0" err="1">
                <a:solidFill>
                  <a:srgbClr val="FCD34D"/>
                </a:solidFill>
                <a:latin typeface="Fira Code"/>
              </a:rPr>
              <a:t>Serial.println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"</a:t>
            </a:r>
            <a:r>
              <a:rPr sz="1800" b="0" i="0" u="none" dirty="0" err="1">
                <a:solidFill>
                  <a:srgbClr val="A3E635"/>
                </a:solidFill>
                <a:latin typeface="Fira Code"/>
              </a:rPr>
              <a:t>Tombol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A3E635"/>
                </a:solidFill>
                <a:latin typeface="Fira Code"/>
              </a:rPr>
              <a:t>Dilepas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 </a:t>
            </a:r>
            <a:r>
              <a:rPr sz="1800" b="0" i="0" u="none" dirty="0" err="1">
                <a:solidFill>
                  <a:srgbClr val="A3E635"/>
                </a:solidFill>
                <a:latin typeface="Fira Code"/>
              </a:rPr>
              <a:t>Pasif</a:t>
            </a:r>
            <a:r>
              <a:rPr sz="1800" b="0" i="0" u="none" dirty="0">
                <a:solidFill>
                  <a:srgbClr val="A3E635"/>
                </a:solidFill>
                <a:latin typeface="Fira Code"/>
              </a:rPr>
              <a:t>."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);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	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} 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lang="en-ID" dirty="0">
                <a:solidFill>
                  <a:srgbClr val="E2E8F0"/>
                </a:solidFill>
                <a:latin typeface="Fira Code"/>
              </a:rPr>
              <a:t>	</a:t>
            </a:r>
            <a:r>
              <a:rPr sz="1800" b="0" i="0" u="none" dirty="0">
                <a:solidFill>
                  <a:srgbClr val="FCD34D"/>
                </a:solidFill>
                <a:latin typeface="Fira Code"/>
              </a:rPr>
              <a:t>delay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(</a:t>
            </a:r>
            <a:r>
              <a:rPr sz="1800" b="0" i="0" u="none" dirty="0">
                <a:solidFill>
                  <a:srgbClr val="F9A8D4"/>
                </a:solidFill>
                <a:latin typeface="Fira Code"/>
              </a:rPr>
              <a:t>50</a:t>
            </a:r>
            <a:r>
              <a:rPr sz="1800" b="0" i="0" u="none" dirty="0">
                <a:solidFill>
                  <a:srgbClr val="E2E8F0"/>
                </a:solidFill>
                <a:latin typeface="Fira Code"/>
              </a:rPr>
              <a:t>);</a:t>
            </a:r>
            <a:endParaRPr lang="en-US" sz="1800" b="0" i="0" u="none" dirty="0">
              <a:solidFill>
                <a:srgbClr val="E2E8F0"/>
              </a:solidFill>
              <a:latin typeface="Fira Code"/>
            </a:endParaRPr>
          </a:p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E2E8F0"/>
                </a:solidFill>
                <a:latin typeface="Fira Code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845123"/>
            <a:ext cx="76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361022" y="2650777"/>
            <a:ext cx="1469954" cy="414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4000" b="1" i="0" u="none">
                <a:solidFill>
                  <a:srgbClr val="F8FAFC"/>
                </a:solidFill>
                <a:latin typeface="Calibri"/>
              </a:rPr>
              <a:t>Selesai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78574" y="3245048"/>
            <a:ext cx="343485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 dirty="0" err="1">
                <a:solidFill>
                  <a:srgbClr val="94A3B8"/>
                </a:solidFill>
                <a:latin typeface="Calibri"/>
              </a:rPr>
              <a:t>Sesi</a:t>
            </a:r>
            <a:r>
              <a:rPr sz="2400" b="0" i="0" u="none" dirty="0">
                <a:solidFill>
                  <a:srgbClr val="94A3B8"/>
                </a:solidFill>
                <a:latin typeface="Calibri"/>
              </a:rPr>
              <a:t> Tanya Jawab </a:t>
            </a:r>
            <a:r>
              <a:rPr sz="2400" b="0" i="0" u="none" dirty="0" err="1">
                <a:solidFill>
                  <a:srgbClr val="94A3B8"/>
                </a:solidFill>
                <a:latin typeface="Calibri"/>
              </a:rPr>
              <a:t>Praktikum</a:t>
            </a:r>
            <a:endParaRPr sz="2400" b="0" i="0" u="none" dirty="0">
              <a:solidFill>
                <a:srgbClr val="94A3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1165770"/>
            <a:ext cx="110490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2099220"/>
            <a:ext cx="110490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032670"/>
            <a:ext cx="11049000" cy="122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4261395"/>
            <a:ext cx="11049000" cy="122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0896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0896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0231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0231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2518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2518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5480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48059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9608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3058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0414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3287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86159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2846058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Calibri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308645"/>
            <a:ext cx="716328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https://cdn-shop.adafruit.com/970x728/3269-04.jpg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651545"/>
            <a:ext cx="368684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Source: </a:t>
            </a:r>
            <a:r>
              <a:rPr sz="2000" b="0" i="0" u="none">
                <a:solidFill>
                  <a:srgbClr val="4F46E5"/>
                </a:solidFill>
                <a:latin typeface="Calibri"/>
              </a:rPr>
              <a:t>www.adafruit.com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242095"/>
            <a:ext cx="105251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https://dwma4bz18k1bd.cloudfront.net/tutorials/Arduino-Set-Up-Window.png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584995"/>
            <a:ext cx="42687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Source: </a:t>
            </a:r>
            <a:r>
              <a:rPr sz="2000" b="0" i="0" u="none">
                <a:solidFill>
                  <a:srgbClr val="4F46E5"/>
                </a:solidFill>
                <a:latin typeface="Calibri"/>
              </a:rPr>
              <a:t>www.circuitbread.com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3175545"/>
            <a:ext cx="1004887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https://raw.githubusercontent.com/gokulkrishh/vscode-night-mode/master/images/vscode-activated.png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813720"/>
            <a:ext cx="53451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Source: </a:t>
            </a:r>
            <a:r>
              <a:rPr sz="2000" b="0" i="0" u="none">
                <a:solidFill>
                  <a:srgbClr val="4F46E5"/>
                </a:solidFill>
                <a:latin typeface="Calibri"/>
              </a:rPr>
              <a:t>marketplace.visualstudio.com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4404270"/>
            <a:ext cx="1004887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https://media.rs-online.com/image/upload/b_rgb:FFFFFF,c_pad,dpr_2.625,f_auto,h_214,q_auto,w_380/c_pad,h_214,w_380/F7916454-01?pgw=1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5042445"/>
            <a:ext cx="3528156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Source: </a:t>
            </a:r>
            <a:r>
              <a:rPr sz="2000" b="0" i="0" u="none">
                <a:solidFill>
                  <a:srgbClr val="4F46E5"/>
                </a:solidFill>
                <a:latin typeface="Calibri"/>
              </a:rPr>
              <a:t>no.rs-online.com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5632995"/>
            <a:ext cx="1004887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https://asset.conrad.com/media10/isa/160267/c1/-/en/440048_BB_00_FB/image.jpg?x=400&amp;y=400&amp;format=jpg&amp;ex=400&amp;ey=400&amp;align=center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6271170"/>
            <a:ext cx="3598664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0" i="0" u="none">
                <a:solidFill>
                  <a:srgbClr val="334155"/>
                </a:solidFill>
                <a:latin typeface="Calibri"/>
              </a:rPr>
              <a:t>Source: </a:t>
            </a:r>
            <a:r>
              <a:rPr sz="2000" b="0" i="0" u="none">
                <a:solidFill>
                  <a:srgbClr val="4F46E5"/>
                </a:solidFill>
                <a:latin typeface="Calibri"/>
              </a:rPr>
              <a:t>www.conrad.com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1149</Words>
  <Application>Microsoft Office PowerPoint</Application>
  <PresentationFormat>Widescreen</PresentationFormat>
  <Paragraphs>210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Asrul Abdullah</cp:lastModifiedBy>
  <cp:revision>3</cp:revision>
  <dcterms:created xsi:type="dcterms:W3CDTF">2013-01-27T09:14:16Z</dcterms:created>
  <dcterms:modified xsi:type="dcterms:W3CDTF">2026-09-27T03:06:36Z</dcterms:modified>
  <cp:category/>
</cp:coreProperties>
</file>