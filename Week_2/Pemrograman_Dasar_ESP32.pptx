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  <p:embeddedFontLst>
    <p:embeddedFont>
      <p:font typeface="Calibri" panose="020F0502020204030204" pitchFamily="34" charset="0"/>
      <p:regular r:id="rId43"/>
      <p:bold r:id="rId44"/>
      <p:italic r:id="rId45"/>
      <p:boldItalic r:id="rId46"/>
    </p:embeddedFont>
    <p:embeddedFont>
      <p:font typeface="Fira Code" panose="020B0809050000020004" pitchFamily="49" charset="0"/>
      <p:regular r:id="rId47"/>
      <p:bold r:id="rId4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87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5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29999" y="2660302"/>
            <a:ext cx="3931853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0284C7"/>
                </a:solidFill>
                <a:latin typeface="Calibri"/>
              </a:rPr>
              <a:t>MODUL PEMBELAJARAN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928" y="3079402"/>
            <a:ext cx="5269994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Calibri"/>
              </a:rPr>
              <a:t>Pemrograman Dasar ESP32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55801" y="3902273"/>
            <a:ext cx="5680397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0" i="0" u="none">
                <a:solidFill>
                  <a:srgbClr val="94A3B8"/>
                </a:solidFill>
                <a:latin typeface="Calibri"/>
              </a:rPr>
              <a:t>Arsitektur, Setup IDE, dan Kendali GPIO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88009"/>
            <a:ext cx="200025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472160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056310"/>
            <a:ext cx="200025" cy="247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609600"/>
            <a:ext cx="2522678" cy="38728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3200" b="1" i="0" u="none" dirty="0">
                <a:solidFill>
                  <a:srgbClr val="0F172A"/>
                </a:solidFill>
                <a:latin typeface="Calibri"/>
              </a:rPr>
              <a:t>Agenda Utama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49909"/>
            <a:ext cx="6588435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1" i="0" u="none" dirty="0">
                <a:solidFill>
                  <a:srgbClr val="334155"/>
                </a:solidFill>
                <a:latin typeface="Calibri"/>
              </a:rPr>
              <a:t>Bagian 1:</a:t>
            </a:r>
            <a:r>
              <a:rPr sz="2000" b="0" i="0" u="none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i="0" u="none" dirty="0" err="1">
                <a:solidFill>
                  <a:srgbClr val="334155"/>
                </a:solidFill>
                <a:latin typeface="Calibri"/>
              </a:rPr>
              <a:t>Arsitektur</a:t>
            </a:r>
            <a:r>
              <a:rPr sz="2000" b="0" i="0" u="none" dirty="0">
                <a:solidFill>
                  <a:srgbClr val="334155"/>
                </a:solidFill>
                <a:latin typeface="Calibri"/>
              </a:rPr>
              <a:t> Internal ESP32.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434060"/>
            <a:ext cx="6588435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1" i="0" u="none" dirty="0">
                <a:solidFill>
                  <a:srgbClr val="334155"/>
                </a:solidFill>
                <a:latin typeface="Calibri"/>
              </a:rPr>
              <a:t>Bagian 2:</a:t>
            </a:r>
            <a:r>
              <a:rPr sz="2000" b="0" i="0" u="none" dirty="0">
                <a:solidFill>
                  <a:srgbClr val="334155"/>
                </a:solidFill>
                <a:latin typeface="Calibri"/>
              </a:rPr>
              <a:t> Setup </a:t>
            </a:r>
            <a:r>
              <a:rPr sz="2000" b="0" i="0" u="none" dirty="0" err="1">
                <a:solidFill>
                  <a:srgbClr val="334155"/>
                </a:solidFill>
                <a:latin typeface="Calibri"/>
              </a:rPr>
              <a:t>Lingkungan</a:t>
            </a:r>
            <a:r>
              <a:rPr sz="2000" b="0" i="0" u="none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i="0" u="none" dirty="0" err="1">
                <a:solidFill>
                  <a:srgbClr val="334155"/>
                </a:solidFill>
                <a:latin typeface="Calibri"/>
              </a:rPr>
              <a:t>Pengembangan</a:t>
            </a:r>
            <a:r>
              <a:rPr sz="2000" b="0" i="0" u="none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018210"/>
            <a:ext cx="6588435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1" i="0" u="none" dirty="0">
                <a:solidFill>
                  <a:srgbClr val="334155"/>
                </a:solidFill>
                <a:latin typeface="Calibri"/>
              </a:rPr>
              <a:t>Bagian 3:</a:t>
            </a:r>
            <a:r>
              <a:rPr sz="2000" b="0" i="0" u="none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i="0" u="none" dirty="0" err="1">
                <a:solidFill>
                  <a:srgbClr val="334155"/>
                </a:solidFill>
                <a:latin typeface="Calibri"/>
              </a:rPr>
              <a:t>Pemrograman</a:t>
            </a:r>
            <a:r>
              <a:rPr sz="2000" b="0" i="0" u="none" dirty="0">
                <a:solidFill>
                  <a:srgbClr val="334155"/>
                </a:solidFill>
                <a:latin typeface="Calibri"/>
              </a:rPr>
              <a:t> GPIO Dasar.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3792735"/>
            <a:ext cx="762000" cy="571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18000" y="2703165"/>
            <a:ext cx="1555998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0284C7"/>
                </a:solidFill>
                <a:latin typeface="Calibri"/>
              </a:rPr>
              <a:t>BAGIAN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72773" y="3122265"/>
            <a:ext cx="3246304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2400" b="1" i="0" u="none" dirty="0" err="1">
                <a:solidFill>
                  <a:srgbClr val="0F172A"/>
                </a:solidFill>
                <a:latin typeface="Calibri"/>
              </a:rPr>
              <a:t>Arsitektur</a:t>
            </a:r>
            <a:r>
              <a:rPr sz="2400" b="1" i="0" u="none" dirty="0">
                <a:solidFill>
                  <a:srgbClr val="0F172A"/>
                </a:solidFill>
                <a:latin typeface="Calibri"/>
              </a:rPr>
              <a:t> ESP32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203870"/>
            <a:ext cx="5105400" cy="504452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595860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80010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764160"/>
            <a:ext cx="200025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348311"/>
            <a:ext cx="200025" cy="247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609600"/>
            <a:ext cx="2535118" cy="38728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3200" b="1" i="0" u="none">
                <a:solidFill>
                  <a:srgbClr val="0F172A"/>
                </a:solidFill>
                <a:latin typeface="Calibri"/>
              </a:rPr>
              <a:t>Apa itu ESP32?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557760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Mikrokontroler berbiaya rendah.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41910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Konektivitas nirkabel ganda terintegrasi.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726060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Standar industri proyek IoT.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310211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Konsumsi daya sangat efisien.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67082" y="2338387"/>
            <a:ext cx="2857686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0284C7"/>
                </a:solidFill>
                <a:latin typeface="Calibri"/>
              </a:rPr>
              <a:t>ARSITEKTUR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41193" y="2757487"/>
            <a:ext cx="709612" cy="762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6000"/>
              </a:lnSpc>
            </a:pPr>
            <a:r>
              <a:rPr sz="6000" b="1" i="0" u="none">
                <a:solidFill>
                  <a:srgbClr val="0284C7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3370" y="3748087"/>
            <a:ext cx="3745259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99" b="1" i="0" u="none" dirty="0">
                <a:solidFill>
                  <a:srgbClr val="0F172A"/>
                </a:solidFill>
                <a:latin typeface="Calibri"/>
              </a:rPr>
              <a:t>Core </a:t>
            </a:r>
            <a:r>
              <a:rPr sz="2199" b="1" i="0" u="none" dirty="0" err="1">
                <a:solidFill>
                  <a:srgbClr val="0F172A"/>
                </a:solidFill>
                <a:latin typeface="Calibri"/>
              </a:rPr>
              <a:t>Prosesor</a:t>
            </a:r>
            <a:r>
              <a:rPr sz="2199" b="1" i="0" u="none" dirty="0">
                <a:solidFill>
                  <a:srgbClr val="0F172A"/>
                </a:solidFill>
                <a:latin typeface="Calibri"/>
              </a:rPr>
              <a:t> </a:t>
            </a:r>
            <a:r>
              <a:rPr sz="2199" b="1" i="0" u="none" dirty="0" err="1">
                <a:solidFill>
                  <a:srgbClr val="0F172A"/>
                </a:solidFill>
                <a:latin typeface="Calibri"/>
              </a:rPr>
              <a:t>Mandiri</a:t>
            </a:r>
            <a:endParaRPr sz="2199" b="1" i="0" u="none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181716" y="4224337"/>
            <a:ext cx="3828417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0" i="0" u="none">
                <a:solidFill>
                  <a:srgbClr val="475569"/>
                </a:solidFill>
                <a:latin typeface="Calibri"/>
              </a:rPr>
              <a:t>Tensilica Xtensa 32-bit LX6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881931"/>
            <a:ext cx="200025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466082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050232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81931"/>
            <a:ext cx="200025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2466082"/>
            <a:ext cx="200025" cy="2476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3050232"/>
            <a:ext cx="200025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Pembagian Tugas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203870"/>
            <a:ext cx="6700837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PRO_CPU (Core 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1203870"/>
            <a:ext cx="5867400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APP_CPU (Core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843831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Eksekusi tugas latar sistem.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27982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Pemeliharaan koneksi Wi-Fi.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12132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Tumpukan protokol Bluetooth.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0" y="1843831"/>
            <a:ext cx="548640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Eksekusi program pengguna.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5600" y="2427982"/>
            <a:ext cx="548640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Fungsi inisialisasi awal.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5600" y="3012132"/>
            <a:ext cx="548640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Fungsi perulangan utama.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263824"/>
            <a:ext cx="3352800" cy="2924472"/>
          </a:xfrm>
          <a:prstGeom prst="roundRect">
            <a:avLst>
              <a:gd name="adj" fmla="val 52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419600" y="2431405"/>
            <a:ext cx="3352800" cy="2589311"/>
          </a:xfrm>
          <a:prstGeom prst="roundRect">
            <a:avLst>
              <a:gd name="adj" fmla="val 588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431405"/>
            <a:ext cx="3352800" cy="2589311"/>
          </a:xfrm>
          <a:prstGeom prst="roundRect">
            <a:avLst>
              <a:gd name="adj" fmla="val 588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654349"/>
            <a:ext cx="333375" cy="38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0125" y="2821930"/>
            <a:ext cx="47625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725" y="2821930"/>
            <a:ext cx="476250" cy="381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Peran Sistem FreeRTOS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525" y="3263949"/>
            <a:ext cx="2800350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Sistem Waktu Nyata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525" y="4086671"/>
            <a:ext cx="266700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Manajemen tugas serentak.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0125" y="3431530"/>
            <a:ext cx="3375421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Koneksi Stabil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0125" y="3919091"/>
            <a:ext cx="266700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Transmisi latar tanpa jeda.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7725" y="3431530"/>
            <a:ext cx="3375421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Pembagian Beban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7725" y="3919091"/>
            <a:ext cx="266700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Penjadwalan proses otomatis.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Peta Memori Internal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13631" y="3170485"/>
            <a:ext cx="1874490" cy="6350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5000" b="1" i="0" u="none">
                <a:solidFill>
                  <a:srgbClr val="0284C7"/>
                </a:solidFill>
                <a:latin typeface="Calibri"/>
              </a:rPr>
              <a:t>448</a:t>
            </a:r>
            <a:r>
              <a:rPr sz="3000" b="1" i="0" u="none">
                <a:solidFill>
                  <a:srgbClr val="0284C7"/>
                </a:solidFill>
                <a:latin typeface="Calibri"/>
              </a:rPr>
              <a:t>KB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3631" y="3957935"/>
            <a:ext cx="1874490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99" b="1" i="0" u="none">
                <a:solidFill>
                  <a:srgbClr val="0F172A"/>
                </a:solidFill>
                <a:latin typeface="Calibri"/>
              </a:rPr>
              <a:t>ROM Inti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16921" y="3170485"/>
            <a:ext cx="2192610" cy="6350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5000" b="1" i="0" u="none">
                <a:solidFill>
                  <a:srgbClr val="0284C7"/>
                </a:solidFill>
                <a:latin typeface="Calibri"/>
              </a:rPr>
              <a:t>520</a:t>
            </a:r>
            <a:r>
              <a:rPr sz="3000" b="1" i="0" u="none">
                <a:solidFill>
                  <a:srgbClr val="0284C7"/>
                </a:solidFill>
                <a:latin typeface="Calibri"/>
              </a:rPr>
              <a:t>KB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16921" y="3957935"/>
            <a:ext cx="2192610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99" b="1" i="0" u="none">
                <a:solidFill>
                  <a:srgbClr val="0F172A"/>
                </a:solidFill>
                <a:latin typeface="Calibri"/>
              </a:rPr>
              <a:t>SRAM Utama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7656" y="3170485"/>
            <a:ext cx="2581237" cy="6350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5000" b="1" i="0" u="none">
                <a:solidFill>
                  <a:srgbClr val="0284C7"/>
                </a:solidFill>
                <a:latin typeface="Calibri"/>
              </a:rPr>
              <a:t>4</a:t>
            </a:r>
            <a:r>
              <a:rPr sz="3000" b="1" i="0" u="none">
                <a:solidFill>
                  <a:srgbClr val="0284C7"/>
                </a:solidFill>
                <a:latin typeface="Calibri"/>
              </a:rPr>
              <a:t>MB+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7656" y="3957935"/>
            <a:ext cx="2581237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99" b="1" i="0" u="none">
                <a:solidFill>
                  <a:srgbClr val="0F172A"/>
                </a:solidFill>
                <a:latin typeface="Calibri"/>
              </a:rPr>
              <a:t>Flash Eksternal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709" y="1203870"/>
            <a:ext cx="4084290" cy="504452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6280" y="2964060"/>
            <a:ext cx="1143000" cy="1524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595860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180010"/>
            <a:ext cx="200025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764160"/>
            <a:ext cx="200025" cy="2476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4348311"/>
            <a:ext cx="200025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Mode Deep Sleep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557760"/>
            <a:ext cx="7277137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Menggunakan modul RTC Memory.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41910"/>
            <a:ext cx="7277137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Kapasitas penyimpanan ultra-kecil.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26060"/>
            <a:ext cx="7277137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Menjaga variabel saat tidur lelap.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310211"/>
            <a:ext cx="7277137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Menghemat daya baterai ekstrim.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609254"/>
            <a:ext cx="5181600" cy="2233761"/>
          </a:xfrm>
          <a:prstGeom prst="roundRect">
            <a:avLst>
              <a:gd name="adj" fmla="val 68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609254"/>
            <a:ext cx="5181600" cy="2233761"/>
          </a:xfrm>
          <a:prstGeom prst="roundRect">
            <a:avLst>
              <a:gd name="adj" fmla="val 68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999779"/>
            <a:ext cx="381000" cy="381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925" y="2999779"/>
            <a:ext cx="476250" cy="381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Kapabilitas Periferal Terintegrasi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525" y="3609379"/>
            <a:ext cx="5775721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34 Pin GPIO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525" y="4096940"/>
            <a:ext cx="5500687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Fungsi multiplexing dinamis adaptif.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8925" y="3609379"/>
            <a:ext cx="5553075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Modul Bawaan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925" y="4096940"/>
            <a:ext cx="5500687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Konverter ADC dan sensor sentuh.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3792735"/>
            <a:ext cx="762000" cy="571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18000" y="2703165"/>
            <a:ext cx="1555998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0284C7"/>
                </a:solidFill>
                <a:latin typeface="Calibri"/>
              </a:rPr>
              <a:t>BAGIAN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1446" y="3122265"/>
            <a:ext cx="3489107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Setup Lingkungan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881931"/>
            <a:ext cx="200025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466082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050232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81931"/>
            <a:ext cx="200025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2466082"/>
            <a:ext cx="200025" cy="2476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3050232"/>
            <a:ext cx="200025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Pilihan Editor Kode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203870"/>
            <a:ext cx="6700837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284C7"/>
                </a:solidFill>
                <a:latin typeface="Calibri"/>
              </a:rPr>
              <a:t>Arduino 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1203870"/>
            <a:ext cx="5867400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EA580C"/>
                </a:solidFill>
                <a:latin typeface="Calibri"/>
              </a:rPr>
              <a:t>PlatformIO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843831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Sangat ramah pemula.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27982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Konfigurasi visual sederhana.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12132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Standar edukasi IoT dasar.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0" y="1843831"/>
            <a:ext cx="548640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Standar industri profesional.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5600" y="2427982"/>
            <a:ext cx="548640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Manajemen pustaka otomatis.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5600" y="3012132"/>
            <a:ext cx="548640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Terintegrasi dengan VS Code.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490" y="1203870"/>
            <a:ext cx="6126509" cy="530542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018383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602533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186683"/>
            <a:ext cx="200025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Opsi A: Arduino 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980283"/>
            <a:ext cx="4724362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Unduh rilis versi 2.x terbaru.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564433"/>
            <a:ext cx="4724362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Akses situs resmi arduino.cc.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48583"/>
            <a:ext cx="4724362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Jalankan instalasi standar 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7967" y="2512665"/>
            <a:ext cx="137606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0284C7"/>
                </a:solidFill>
                <a:latin typeface="Calibri"/>
              </a:rPr>
              <a:t>TAHAP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8130" y="2931765"/>
            <a:ext cx="441559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Konfigurasi URL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3754635"/>
            <a:ext cx="9525000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i="0" u="none">
                <a:solidFill>
                  <a:srgbClr val="475569"/>
                </a:solidFill>
                <a:latin typeface="Calibri"/>
              </a:rPr>
              <a:t>Buka menu Preferences dan tambahkan tautan repositori eksternal Espressif ke dalam sistem.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554485"/>
            <a:ext cx="10668000" cy="2343150"/>
          </a:xfrm>
          <a:prstGeom prst="roundRect">
            <a:avLst>
              <a:gd name="adj" fmla="val 4878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Tautan Repositori ESP32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859285"/>
            <a:ext cx="10153650" cy="1733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64748B"/>
                </a:solidFill>
                <a:latin typeface="Fira Code"/>
              </a:rPr>
              <a:t>// Masukkan URL ini ke Additional Boards Manager URLs</a:t>
            </a:r>
            <a:r>
              <a:rPr sz="1800" b="0" i="0" u="none">
                <a:solidFill>
                  <a:srgbClr val="E2E8F0"/>
                </a:solidFill>
                <a:latin typeface="Fira Code"/>
              </a:rPr>
              <a:t> https://raw.githubusercontent.com/espressif/arduino-esp32/ gh-pages/package_esp32_index.json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153" y="1203870"/>
            <a:ext cx="5105846" cy="504452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502" y="3154560"/>
            <a:ext cx="1143000" cy="1143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595860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180010"/>
            <a:ext cx="200025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764160"/>
            <a:ext cx="200025" cy="2476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4348311"/>
            <a:ext cx="200025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Tahap 2: Instalasi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557760"/>
            <a:ext cx="6000191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Buka menu Boards Manager.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41910"/>
            <a:ext cx="6000191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Cari modul "esp32" di kolom.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26060"/>
            <a:ext cx="6000191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Pilih paket buatan Espressif Systems.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310211"/>
            <a:ext cx="6000191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Klik tombol instalasi paket.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153" y="1203870"/>
            <a:ext cx="5105846" cy="504452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8377" y="3154560"/>
            <a:ext cx="857250" cy="1143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595860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180010"/>
            <a:ext cx="200025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764160"/>
            <a:ext cx="200025" cy="2476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4348311"/>
            <a:ext cx="200025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Tahap 3: Pemilihan Perangkat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557760"/>
            <a:ext cx="6000191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Buka menu Tools dan pilih Board.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41910"/>
            <a:ext cx="6000191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Pilih model "DOIT ESP32 DEVKIT".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26060"/>
            <a:ext cx="6000191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Hubungkan papan ke kabel USB.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310211"/>
            <a:ext cx="6000191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Tentukan port serial aktif komputer.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431405"/>
            <a:ext cx="3352800" cy="2589311"/>
          </a:xfrm>
          <a:prstGeom prst="roundRect">
            <a:avLst>
              <a:gd name="adj" fmla="val 588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419600" y="2253704"/>
            <a:ext cx="3352800" cy="2944862"/>
          </a:xfrm>
          <a:prstGeom prst="roundRect">
            <a:avLst>
              <a:gd name="adj" fmla="val 517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431405"/>
            <a:ext cx="3352800" cy="2589311"/>
          </a:xfrm>
          <a:prstGeom prst="roundRect">
            <a:avLst>
              <a:gd name="adj" fmla="val 588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821930"/>
            <a:ext cx="428625" cy="38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0125" y="2644229"/>
            <a:ext cx="47625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725" y="2821930"/>
            <a:ext cx="333375" cy="381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Keunggulan PlatformIO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525" y="3431530"/>
            <a:ext cx="3375421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Autocomplete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525" y="3919091"/>
            <a:ext cx="266700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Penulisan kode otomatis cerdas.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0125" y="3253829"/>
            <a:ext cx="3375421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Pustaka Otomatis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0125" y="3741390"/>
            <a:ext cx="2667000" cy="1066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Manajemen dependensi proyek terpusat.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7725" y="3431530"/>
            <a:ext cx="3375421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Kompilasi Cepat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7725" y="3919091"/>
            <a:ext cx="266700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Proses pembuatan biner instan.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490" y="1203870"/>
            <a:ext cx="6126509" cy="504452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532459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472160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056310"/>
            <a:ext cx="200025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Opsi B: Ekosistem PlatformIO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494359"/>
            <a:ext cx="379854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Berjalan di dalam editor VS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434060"/>
            <a:ext cx="4724362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Antarmuka gelap profesional.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18210"/>
            <a:ext cx="379854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Mengelola seluruh rantai alat otomasi.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Instalasi PlatformIO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6837" y="3170485"/>
            <a:ext cx="2444874" cy="6350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5000" b="1" i="0" u="none">
                <a:solidFill>
                  <a:srgbClr val="0284C7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37" y="3957935"/>
            <a:ext cx="2444874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99" b="1" i="0" u="none">
                <a:solidFill>
                  <a:srgbClr val="0F172A"/>
                </a:solidFill>
                <a:latin typeface="Calibri"/>
              </a:rPr>
              <a:t>Instal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59349" y="3170485"/>
            <a:ext cx="2638722" cy="6350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5000" b="1" i="0" u="none">
                <a:solidFill>
                  <a:srgbClr val="0284C7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9349" y="3957935"/>
            <a:ext cx="2638722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99" b="1" i="0" u="none">
                <a:solidFill>
                  <a:srgbClr val="0F172A"/>
                </a:solidFill>
                <a:latin typeface="Calibri"/>
              </a:rPr>
              <a:t>Unduh Ekstensi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444" y="3170485"/>
            <a:ext cx="2987538" cy="6350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5000" b="1" i="0" u="none">
                <a:solidFill>
                  <a:srgbClr val="0284C7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444" y="3957935"/>
            <a:ext cx="2987538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99" b="1" i="0" u="none">
                <a:solidFill>
                  <a:srgbClr val="0F172A"/>
                </a:solidFill>
                <a:latin typeface="Calibri"/>
              </a:rPr>
              <a:t>Muat Ulang Editor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609254"/>
            <a:ext cx="5181600" cy="2233761"/>
          </a:xfrm>
          <a:prstGeom prst="roundRect">
            <a:avLst>
              <a:gd name="adj" fmla="val 68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609254"/>
            <a:ext cx="5181600" cy="2233761"/>
          </a:xfrm>
          <a:prstGeom prst="roundRect">
            <a:avLst>
              <a:gd name="adj" fmla="val 68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999779"/>
            <a:ext cx="428625" cy="381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925" y="2999779"/>
            <a:ext cx="381000" cy="381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Memulai Proyek Baru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525" y="3609379"/>
            <a:ext cx="5775721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Akses Beranda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525" y="4096940"/>
            <a:ext cx="5500687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Buka antarmuka utama PIO Home.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8925" y="3609379"/>
            <a:ext cx="5553075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Pilih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925" y="4096940"/>
            <a:ext cx="5500687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Papan Espressif ESP32 Dev Module.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040135"/>
            <a:ext cx="10668000" cy="3371850"/>
          </a:xfrm>
          <a:prstGeom prst="roundRect">
            <a:avLst>
              <a:gd name="adj" fmla="val 3389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File Konfigurasi Utama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344935"/>
            <a:ext cx="10153650" cy="276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64748B"/>
                </a:solidFill>
                <a:latin typeface="Fira Code"/>
              </a:rPr>
              <a:t>; platformio.ini - File konfigurasi proyek</a:t>
            </a:r>
            <a:r>
              <a:rPr sz="1800" b="0" i="0" u="none">
                <a:solidFill>
                  <a:srgbClr val="E2E8F0"/>
                </a:solidFill>
                <a:latin typeface="Fira Code"/>
              </a:rPr>
              <a:t> [env:esp32dev] platform = espressif32 board = esp32dev framework = arduino monitor_speed = 115200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324600" y="2040135"/>
            <a:ext cx="5105400" cy="3371850"/>
          </a:xfrm>
          <a:prstGeom prst="roundRect">
            <a:avLst>
              <a:gd name="adj" fmla="val 3389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710160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294310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78460"/>
            <a:ext cx="200025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Struktur Direktori Modern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344935"/>
            <a:ext cx="4591050" cy="276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E2E8F0"/>
                </a:solidFill>
                <a:latin typeface="Fira Code"/>
              </a:rPr>
              <a:t>Proyek_Pertama/ ├── .pio/ ├── include/ ├── lib/ ├── src/ │ └── </a:t>
            </a:r>
            <a:r>
              <a:rPr sz="1800" b="0" i="0" u="none">
                <a:solidFill>
                  <a:srgbClr val="A3E635"/>
                </a:solidFill>
                <a:latin typeface="Fira Code"/>
              </a:rPr>
              <a:t>main.cpp</a:t>
            </a:r>
            <a:r>
              <a:rPr sz="1800" b="0" i="0" u="none">
                <a:solidFill>
                  <a:srgbClr val="E2E8F0"/>
                </a:solidFill>
                <a:latin typeface="Fira Code"/>
              </a:rPr>
              <a:t> └── </a:t>
            </a:r>
            <a:r>
              <a:rPr sz="1800" b="0" i="0" u="none">
                <a:solidFill>
                  <a:srgbClr val="38BDF8"/>
                </a:solidFill>
                <a:latin typeface="Fira Code"/>
              </a:rPr>
              <a:t>platformio.ini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72060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Pemisahan kode dan konfigurasi ketat.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56210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Folder kode sumber terisolasi.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40360"/>
            <a:ext cx="481965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Wajib menyertakan pustaka dasar manual.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881931"/>
            <a:ext cx="200025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21632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81931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2466082"/>
            <a:ext cx="200025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Perbandingan Kompilasi Kode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203870"/>
            <a:ext cx="6700837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Arduino 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1203870"/>
            <a:ext cx="5867400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284C7"/>
                </a:solidFill>
                <a:latin typeface="Calibri"/>
              </a:rPr>
              <a:t>PlatformIO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43831"/>
            <a:ext cx="481965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Membangun ulang seluruh berkas lambat.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783532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Proses tersembunyi di latar belakang.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0" y="1843831"/>
            <a:ext cx="548640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Membangun diferensial sangat cepat.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0" y="2427982"/>
            <a:ext cx="548640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Log terminal informatif transparan.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609254"/>
            <a:ext cx="5181600" cy="2233761"/>
          </a:xfrm>
          <a:prstGeom prst="roundRect">
            <a:avLst>
              <a:gd name="adj" fmla="val 68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431405"/>
            <a:ext cx="5181600" cy="2589311"/>
          </a:xfrm>
          <a:prstGeom prst="roundRect">
            <a:avLst>
              <a:gd name="adj" fmla="val 588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999779"/>
            <a:ext cx="476250" cy="381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925" y="2821930"/>
            <a:ext cx="381000" cy="381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Ringkasan Pemilihan Editor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525" y="3609379"/>
            <a:ext cx="5775721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Edukasi Dasar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525" y="4096940"/>
            <a:ext cx="5500687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Gunakan Arduino IDE sederhana.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8925" y="3431530"/>
            <a:ext cx="5553075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Produksi Komersial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925" y="3919091"/>
            <a:ext cx="449580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Gunakan ekosistem PlatformIO modern.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3792735"/>
            <a:ext cx="762000" cy="571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18000" y="2703165"/>
            <a:ext cx="1555998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0284C7"/>
                </a:solidFill>
                <a:latin typeface="Calibri"/>
              </a:rPr>
              <a:t>BAGIAN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83576" y="3122265"/>
            <a:ext cx="5024846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Pemrograman GPIO Dasar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203870"/>
            <a:ext cx="5105400" cy="504452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532459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472160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056310"/>
            <a:ext cx="200025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Antarmuka Dunia 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494359"/>
            <a:ext cx="481965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Penghubung mikrokontroler dengan komponen fisik.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434060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Fungsi input membaca variasi tegangan.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18210"/>
            <a:ext cx="481965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Fungsi output memberikan suplai tegangan.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42166" y="2338387"/>
            <a:ext cx="3307519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EA580C"/>
                </a:solidFill>
                <a:latin typeface="Calibri"/>
              </a:rPr>
              <a:t>PERINGATAN KERAS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16171" y="2757487"/>
            <a:ext cx="1959508" cy="762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6000"/>
              </a:lnSpc>
            </a:pPr>
            <a:r>
              <a:rPr sz="6000" b="1" i="0" u="none">
                <a:solidFill>
                  <a:srgbClr val="EA580C"/>
                </a:solidFill>
                <a:latin typeface="Calibri"/>
              </a:rPr>
              <a:t>3.3V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14588" y="3748087"/>
            <a:ext cx="5562823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99" b="1" i="0" u="none">
                <a:solidFill>
                  <a:srgbClr val="0F172A"/>
                </a:solidFill>
                <a:latin typeface="Calibri"/>
              </a:rPr>
              <a:t>Batas Tegangan Logika Maksimal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1820" y="4224337"/>
            <a:ext cx="9368358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0" i="0" u="none">
                <a:solidFill>
                  <a:srgbClr val="475569"/>
                </a:solidFill>
                <a:latin typeface="Calibri"/>
              </a:rPr>
              <a:t>Memberikan tegangan 5V langsung akan merusak chip permanen!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736205"/>
            <a:ext cx="3352800" cy="1979711"/>
          </a:xfrm>
          <a:prstGeom prst="roundRect">
            <a:avLst>
              <a:gd name="adj" fmla="val 769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419600" y="2736205"/>
            <a:ext cx="3352800" cy="1979711"/>
          </a:xfrm>
          <a:prstGeom prst="roundRect">
            <a:avLst>
              <a:gd name="adj" fmla="val 769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558504"/>
            <a:ext cx="3352800" cy="2335262"/>
          </a:xfrm>
          <a:prstGeom prst="roundRect">
            <a:avLst>
              <a:gd name="adj" fmla="val 65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Tiga Fungsi Utama Interaksi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525" y="3126730"/>
            <a:ext cx="3375421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284C7"/>
                </a:solidFill>
                <a:latin typeface="Fira Code"/>
              </a:rPr>
              <a:t>pinMode()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525" y="3614291"/>
            <a:ext cx="266700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Menetapkan arah aliran sinyal pin.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10125" y="3126730"/>
            <a:ext cx="3375421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284C7"/>
                </a:solidFill>
                <a:latin typeface="Fira Code"/>
              </a:rPr>
              <a:t>digitalWrite()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10125" y="3614291"/>
            <a:ext cx="266700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Menuliskan sinyal tegangan keluar fisik.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67725" y="2949029"/>
            <a:ext cx="3375421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284C7"/>
                </a:solidFill>
                <a:latin typeface="Fira Code"/>
              </a:rPr>
              <a:t>digitalRead()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725" y="3436590"/>
            <a:ext cx="2667000" cy="1066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Membaca kondisi sinyal tegangan masuk.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43000" y="1398835"/>
            <a:ext cx="4800600" cy="1979711"/>
          </a:xfrm>
          <a:prstGeom prst="roundRect">
            <a:avLst>
              <a:gd name="adj" fmla="val 769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1398835"/>
            <a:ext cx="4800600" cy="1979711"/>
          </a:xfrm>
          <a:prstGeom prst="roundRect">
            <a:avLst>
              <a:gd name="adj" fmla="val 769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143000" y="4073425"/>
            <a:ext cx="4800600" cy="1979711"/>
          </a:xfrm>
          <a:prstGeom prst="roundRect">
            <a:avLst>
              <a:gd name="adj" fmla="val 769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48400" y="4073425"/>
            <a:ext cx="4800600" cy="1979711"/>
          </a:xfrm>
          <a:prstGeom prst="roundRect">
            <a:avLst>
              <a:gd name="adj" fmla="val 769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Pin Input Khusus Terbatas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3525" y="1789360"/>
            <a:ext cx="5275659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GPIO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3525" y="2276921"/>
            <a:ext cx="411480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Hanya menerima fungsi pembacaan input.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8925" y="1789360"/>
            <a:ext cx="5275659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GPIO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925" y="2276921"/>
            <a:ext cx="411480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Hanya menerima fungsi pembacaan input.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3525" y="4463950"/>
            <a:ext cx="5275659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GPIO 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3525" y="4951511"/>
            <a:ext cx="411480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Hanya menerima fungsi pembacaan input.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8925" y="4463950"/>
            <a:ext cx="5275659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F172A"/>
                </a:solidFill>
                <a:latin typeface="Calibri"/>
              </a:rPr>
              <a:t>GPIO 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8925" y="4951511"/>
            <a:ext cx="411480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475569"/>
                </a:solidFill>
                <a:latin typeface="Calibri"/>
              </a:rPr>
              <a:t>Hanya menerima fungsi pembacaan input.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3792735"/>
            <a:ext cx="762000" cy="571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853489" y="2703165"/>
            <a:ext cx="248487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0284C7"/>
                </a:solidFill>
                <a:latin typeface="Calibri"/>
              </a:rPr>
              <a:t>STUDI KASUS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4493" y="3122265"/>
            <a:ext cx="3222863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Blink LED Digital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153" y="1203870"/>
            <a:ext cx="5105846" cy="504452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8377" y="3154560"/>
            <a:ext cx="857250" cy="1143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710160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294310"/>
            <a:ext cx="200025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878460"/>
            <a:ext cx="200025" cy="247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Rangkaian Indikator Internal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72060"/>
            <a:ext cx="6000191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Mayoritas papan memiliki lampu bawaan.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56210"/>
            <a:ext cx="6000191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Secara fisik terhubung menuju GPIO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40360"/>
            <a:ext cx="4819203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Membutuhkan perintah keluaran sinyal tinggi.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03490" y="2383035"/>
            <a:ext cx="6126509" cy="2686050"/>
          </a:xfrm>
          <a:prstGeom prst="roundRect">
            <a:avLst>
              <a:gd name="adj" fmla="val 4255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354609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294310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234011"/>
            <a:ext cx="200025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Tahap Inisialisasi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8290" y="2687835"/>
            <a:ext cx="5612159" cy="136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ID" sz="1800" b="0" i="0" u="none" dirty="0" err="1">
                <a:solidFill>
                  <a:srgbClr val="38BDF8"/>
                </a:solidFill>
                <a:latin typeface="Fira Code"/>
              </a:rPr>
              <a:t>const</a:t>
            </a:r>
            <a:r>
              <a:rPr lang="en-ID" sz="1800" b="0" i="0" u="none" dirty="0">
                <a:solidFill>
                  <a:srgbClr val="38BDF8"/>
                </a:solidFill>
                <a:latin typeface="Fira Code"/>
              </a:rPr>
              <a:t> int</a:t>
            </a:r>
            <a:r>
              <a:rPr lang="en-ID" sz="1800" b="0" i="0" u="none" dirty="0">
                <a:solidFill>
                  <a:srgbClr val="E2E8F0"/>
                </a:solidFill>
                <a:latin typeface="Fira Code"/>
              </a:rPr>
              <a:t> </a:t>
            </a:r>
            <a:r>
              <a:rPr lang="en-ID" sz="1800" b="0" i="0" u="none" dirty="0" err="1">
                <a:solidFill>
                  <a:srgbClr val="E2E8F0"/>
                </a:solidFill>
                <a:latin typeface="Fira Code"/>
              </a:rPr>
              <a:t>ledPin</a:t>
            </a:r>
            <a:r>
              <a:rPr lang="en-ID" sz="1800" b="0" i="0" u="none" dirty="0">
                <a:solidFill>
                  <a:srgbClr val="E2E8F0"/>
                </a:solidFill>
                <a:latin typeface="Fira Code"/>
              </a:rPr>
              <a:t> = </a:t>
            </a:r>
            <a:r>
              <a:rPr lang="en-ID" sz="1800" b="0" i="0" u="none" dirty="0">
                <a:solidFill>
                  <a:srgbClr val="F9A8D4"/>
                </a:solidFill>
                <a:latin typeface="Fira Code"/>
              </a:rPr>
              <a:t>2</a:t>
            </a:r>
            <a:r>
              <a:rPr lang="en-ID" sz="1800" b="0" i="0" u="none" dirty="0">
                <a:solidFill>
                  <a:srgbClr val="E2E8F0"/>
                </a:solidFill>
                <a:latin typeface="Fira Code"/>
              </a:rPr>
              <a:t>; </a:t>
            </a:r>
          </a:p>
          <a:p>
            <a:pPr algn="l">
              <a:lnSpc>
                <a:spcPts val="2700"/>
              </a:lnSpc>
            </a:pPr>
            <a:r>
              <a:rPr lang="en-ID" sz="1800" b="0" i="0" u="none" dirty="0">
                <a:solidFill>
                  <a:srgbClr val="38BDF8"/>
                </a:solidFill>
                <a:latin typeface="Fira Code"/>
              </a:rPr>
              <a:t>void</a:t>
            </a:r>
            <a:r>
              <a:rPr lang="en-ID" sz="1800" b="0" i="0" u="none" dirty="0">
                <a:solidFill>
                  <a:srgbClr val="E2E8F0"/>
                </a:solidFill>
                <a:latin typeface="Fira Code"/>
              </a:rPr>
              <a:t> </a:t>
            </a:r>
            <a:r>
              <a:rPr lang="en-ID" sz="1800" b="0" i="0" u="none" dirty="0">
                <a:solidFill>
                  <a:srgbClr val="FCD34D"/>
                </a:solidFill>
                <a:latin typeface="Fira Code"/>
              </a:rPr>
              <a:t>setup</a:t>
            </a:r>
            <a:r>
              <a:rPr lang="en-ID" sz="1800" b="0" i="0" u="none" dirty="0">
                <a:solidFill>
                  <a:srgbClr val="E2E8F0"/>
                </a:solidFill>
                <a:latin typeface="Fira Code"/>
              </a:rPr>
              <a:t>() { </a:t>
            </a: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</a:t>
            </a:r>
            <a:r>
              <a:rPr lang="en-ID" sz="1800" b="0" i="0" u="none" dirty="0" err="1">
                <a:solidFill>
                  <a:srgbClr val="FCD34D"/>
                </a:solidFill>
                <a:latin typeface="Fira Code"/>
              </a:rPr>
              <a:t>pinMode</a:t>
            </a:r>
            <a:r>
              <a:rPr lang="en-ID" sz="1800" b="0" i="0" u="none" dirty="0">
                <a:solidFill>
                  <a:srgbClr val="E2E8F0"/>
                </a:solidFill>
                <a:latin typeface="Fira Code"/>
              </a:rPr>
              <a:t>(</a:t>
            </a:r>
            <a:r>
              <a:rPr lang="en-ID" sz="1800" b="0" i="0" u="none" dirty="0" err="1">
                <a:solidFill>
                  <a:srgbClr val="E2E8F0"/>
                </a:solidFill>
                <a:latin typeface="Fira Code"/>
              </a:rPr>
              <a:t>ledPin</a:t>
            </a:r>
            <a:r>
              <a:rPr lang="en-ID" sz="1800" b="0" i="0" u="none" dirty="0">
                <a:solidFill>
                  <a:srgbClr val="E2E8F0"/>
                </a:solidFill>
                <a:latin typeface="Fira Code"/>
              </a:rPr>
              <a:t>, OUTPUT); </a:t>
            </a:r>
          </a:p>
          <a:p>
            <a:pPr algn="l">
              <a:lnSpc>
                <a:spcPts val="2700"/>
              </a:lnSpc>
            </a:pPr>
            <a:r>
              <a:rPr lang="en-ID" sz="1800" b="0" i="0" u="none" dirty="0">
                <a:solidFill>
                  <a:srgbClr val="E2E8F0"/>
                </a:solidFill>
                <a:latin typeface="Fira Code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16509"/>
            <a:ext cx="379854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Mendefinisikan alias pin nomor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56210"/>
            <a:ext cx="379854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Mengatur pin mode sebagai keluaran.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195911"/>
            <a:ext cx="379854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Berjalan tunggal saat awal penyalaan.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040135"/>
            <a:ext cx="10668000" cy="3371850"/>
          </a:xfrm>
          <a:prstGeom prst="roundRect">
            <a:avLst>
              <a:gd name="adj" fmla="val 3389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Tahap Eksekusi Perulangan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344935"/>
            <a:ext cx="10153650" cy="20588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 dirty="0">
                <a:solidFill>
                  <a:srgbClr val="38BDF8"/>
                </a:solidFill>
                <a:latin typeface="Fira Code"/>
              </a:rPr>
              <a:t>void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 </a:t>
            </a:r>
            <a:r>
              <a:rPr sz="1800" b="0" i="0" u="none" dirty="0">
                <a:solidFill>
                  <a:srgbClr val="FCD34D"/>
                </a:solidFill>
                <a:latin typeface="Fira Code"/>
              </a:rPr>
              <a:t>loop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() {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</a:t>
            </a:r>
            <a:r>
              <a:rPr sz="1800" b="0" i="0" u="none" dirty="0" err="1">
                <a:solidFill>
                  <a:srgbClr val="FCD34D"/>
                </a:solidFill>
                <a:latin typeface="Fira Code"/>
              </a:rPr>
              <a:t>digitalWrite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</a:t>
            </a:r>
            <a:r>
              <a:rPr sz="1800" b="0" i="0" u="none" dirty="0" err="1">
                <a:solidFill>
                  <a:srgbClr val="E2E8F0"/>
                </a:solidFill>
                <a:latin typeface="Fira Code"/>
              </a:rPr>
              <a:t>ledPin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, HIGH);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</a:t>
            </a:r>
            <a:r>
              <a:rPr sz="1800" b="0" i="0" u="none" dirty="0">
                <a:solidFill>
                  <a:srgbClr val="FCD34D"/>
                </a:solidFill>
                <a:latin typeface="Fira Code"/>
              </a:rPr>
              <a:t>delay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</a:t>
            </a:r>
            <a:r>
              <a:rPr sz="1800" b="0" i="0" u="none" dirty="0">
                <a:solidFill>
                  <a:srgbClr val="F9A8D4"/>
                </a:solidFill>
                <a:latin typeface="Fira Code"/>
              </a:rPr>
              <a:t>1000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);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</a:t>
            </a:r>
            <a:r>
              <a:rPr sz="1800" b="0" i="0" u="none" dirty="0" err="1">
                <a:solidFill>
                  <a:srgbClr val="FCD34D"/>
                </a:solidFill>
                <a:latin typeface="Fira Code"/>
              </a:rPr>
              <a:t>digitalWrite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</a:t>
            </a:r>
            <a:r>
              <a:rPr sz="1800" b="0" i="0" u="none" dirty="0" err="1">
                <a:solidFill>
                  <a:srgbClr val="E2E8F0"/>
                </a:solidFill>
                <a:latin typeface="Fira Code"/>
              </a:rPr>
              <a:t>ledPin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, LOW);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</a:t>
            </a:r>
            <a:r>
              <a:rPr sz="1800" b="0" i="0" u="none" dirty="0">
                <a:solidFill>
                  <a:srgbClr val="FCD34D"/>
                </a:solidFill>
                <a:latin typeface="Fira Code"/>
              </a:rPr>
              <a:t>delay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</a:t>
            </a:r>
            <a:r>
              <a:rPr sz="1800" b="0" i="0" u="none" dirty="0">
                <a:solidFill>
                  <a:srgbClr val="F9A8D4"/>
                </a:solidFill>
                <a:latin typeface="Fira Code"/>
              </a:rPr>
              <a:t>1000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);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sz="1800" b="0" i="0" u="none" dirty="0">
                <a:solidFill>
                  <a:srgbClr val="E2E8F0"/>
                </a:solidFill>
                <a:latin typeface="Fira Code"/>
              </a:rPr>
              <a:t>}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3792735"/>
            <a:ext cx="762000" cy="571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853489" y="2703165"/>
            <a:ext cx="248487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0284C7"/>
                </a:solidFill>
                <a:latin typeface="Calibri"/>
              </a:rPr>
              <a:t>STUDI KASUS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62798" y="3122265"/>
            <a:ext cx="3466253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Input Push Button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203870"/>
            <a:ext cx="5105400" cy="5105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740669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324820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08970"/>
            <a:ext cx="200025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Membaca Sinyal Fisik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02569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Gunakan pin GPIO 4 bacaan.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286720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Hubungkan satu kaki menuju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0870"/>
            <a:ext cx="481965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Tombol ditekan menyambungkan sirkuit logika.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881931"/>
            <a:ext cx="200025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466082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81931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2466082"/>
            <a:ext cx="200025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3618939" cy="3736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800" b="1" i="0" u="none" dirty="0" err="1">
                <a:solidFill>
                  <a:srgbClr val="0F172A"/>
                </a:solidFill>
                <a:latin typeface="Calibri"/>
              </a:rPr>
              <a:t>Konsep</a:t>
            </a:r>
            <a:r>
              <a:rPr sz="2800" b="1" i="0" u="none" dirty="0">
                <a:solidFill>
                  <a:srgbClr val="0F172A"/>
                </a:solidFill>
                <a:latin typeface="Calibri"/>
              </a:rPr>
              <a:t> Resistor Internal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203870"/>
            <a:ext cx="6700837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EA580C"/>
                </a:solidFill>
                <a:latin typeface="Calibri"/>
              </a:rPr>
              <a:t>Tanpa Pull-Up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1203870"/>
            <a:ext cx="5867400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2199" b="1" i="0" u="none">
                <a:solidFill>
                  <a:srgbClr val="0284C7"/>
                </a:solidFill>
                <a:latin typeface="Calibri"/>
              </a:rPr>
              <a:t>Dengan Pull-Up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43831"/>
            <a:ext cx="600075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Sinyal listrik mengambang tidak pasti.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27982"/>
            <a:ext cx="481965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Memicu kesalahan pembacaan palsu acak.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0" y="1843831"/>
            <a:ext cx="5486400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Tegangan stabil tertahan level tinggi.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0" y="2427982"/>
            <a:ext cx="481965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Menghilangkan kebutuhan komponen resistor eksternal.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03490" y="2040135"/>
            <a:ext cx="6126509" cy="3371850"/>
          </a:xfrm>
          <a:prstGeom prst="roundRect">
            <a:avLst>
              <a:gd name="adj" fmla="val 3389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532459"/>
            <a:ext cx="200025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472160"/>
            <a:ext cx="200025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411860"/>
            <a:ext cx="200025" cy="247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Konfigurasi Jalur Tombol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8290" y="2344935"/>
            <a:ext cx="5612159" cy="20588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 dirty="0">
                <a:solidFill>
                  <a:srgbClr val="38BDF8"/>
                </a:solidFill>
                <a:latin typeface="Fira Code"/>
              </a:rPr>
              <a:t>const int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 </a:t>
            </a:r>
            <a:r>
              <a:rPr sz="1800" b="0" i="0" u="none" dirty="0" err="1">
                <a:solidFill>
                  <a:srgbClr val="E2E8F0"/>
                </a:solidFill>
                <a:latin typeface="Fira Code"/>
              </a:rPr>
              <a:t>buttonPin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 = </a:t>
            </a:r>
            <a:r>
              <a:rPr sz="1800" b="0" i="0" u="none" dirty="0">
                <a:solidFill>
                  <a:srgbClr val="F9A8D4"/>
                </a:solidFill>
                <a:latin typeface="Fira Code"/>
              </a:rPr>
              <a:t>4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;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sz="1800" b="0" i="0" u="none" dirty="0">
                <a:solidFill>
                  <a:srgbClr val="38BDF8"/>
                </a:solidFill>
                <a:latin typeface="Fira Code"/>
              </a:rPr>
              <a:t>int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 </a:t>
            </a:r>
            <a:r>
              <a:rPr sz="1800" b="0" i="0" u="none" dirty="0" err="1">
                <a:solidFill>
                  <a:srgbClr val="E2E8F0"/>
                </a:solidFill>
                <a:latin typeface="Fira Code"/>
              </a:rPr>
              <a:t>buttonState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 = </a:t>
            </a:r>
            <a:r>
              <a:rPr sz="1800" b="0" i="0" u="none" dirty="0">
                <a:solidFill>
                  <a:srgbClr val="F9A8D4"/>
                </a:solidFill>
                <a:latin typeface="Fira Code"/>
              </a:rPr>
              <a:t>0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;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sz="1800" b="0" i="0" u="none" dirty="0">
                <a:solidFill>
                  <a:srgbClr val="38BDF8"/>
                </a:solidFill>
                <a:latin typeface="Fira Code"/>
              </a:rPr>
              <a:t>void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 </a:t>
            </a:r>
            <a:r>
              <a:rPr sz="1800" b="0" i="0" u="none" dirty="0">
                <a:solidFill>
                  <a:srgbClr val="FCD34D"/>
                </a:solidFill>
                <a:latin typeface="Fira Code"/>
              </a:rPr>
              <a:t>setup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() {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</a:t>
            </a:r>
            <a:r>
              <a:rPr sz="1800" b="0" i="0" u="none" dirty="0" err="1">
                <a:solidFill>
                  <a:srgbClr val="FCD34D"/>
                </a:solidFill>
                <a:latin typeface="Fira Code"/>
              </a:rPr>
              <a:t>Serial.begin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</a:t>
            </a:r>
            <a:r>
              <a:rPr sz="1800" b="0" i="0" u="none" dirty="0">
                <a:solidFill>
                  <a:srgbClr val="F9A8D4"/>
                </a:solidFill>
                <a:latin typeface="Fira Code"/>
              </a:rPr>
              <a:t>115200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); </a:t>
            </a:r>
            <a:r>
              <a:rPr lang="en-US" sz="1800" b="0" i="0" u="none" dirty="0">
                <a:solidFill>
                  <a:srgbClr val="E2E8F0"/>
                </a:solidFill>
                <a:latin typeface="Fira Code"/>
              </a:rPr>
              <a:t>	</a:t>
            </a:r>
            <a:r>
              <a:rPr sz="1800" b="0" i="0" u="none" dirty="0" err="1">
                <a:solidFill>
                  <a:srgbClr val="FCD34D"/>
                </a:solidFill>
                <a:latin typeface="Fira Code"/>
              </a:rPr>
              <a:t>pinMode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</a:t>
            </a:r>
            <a:r>
              <a:rPr sz="1800" b="0" i="0" u="none" dirty="0" err="1">
                <a:solidFill>
                  <a:srgbClr val="E2E8F0"/>
                </a:solidFill>
                <a:latin typeface="Fira Code"/>
              </a:rPr>
              <a:t>buttonPin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, INPUT_PULLUP);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sz="1800" b="0" i="0" u="none" dirty="0">
                <a:solidFill>
                  <a:srgbClr val="E2E8F0"/>
                </a:solidFill>
                <a:latin typeface="Fira Code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94359"/>
            <a:ext cx="379854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Inisialisasi komunikasi monitor serial.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34060"/>
            <a:ext cx="3798540" cy="71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Aktifkan parameter resistor internal bawaan.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373760"/>
            <a:ext cx="4724362" cy="355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sz="2000" b="0" i="0" u="none">
                <a:solidFill>
                  <a:srgbClr val="334155"/>
                </a:solidFill>
                <a:latin typeface="Calibri"/>
              </a:rPr>
              <a:t>Status awal logika nilai tinggi.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1203870"/>
            <a:ext cx="10668000" cy="5086350"/>
          </a:xfrm>
          <a:prstGeom prst="roundRect">
            <a:avLst>
              <a:gd name="adj" fmla="val 2247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3924536" cy="3736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800" b="1" i="0" u="none" dirty="0" err="1">
                <a:solidFill>
                  <a:srgbClr val="0F172A"/>
                </a:solidFill>
                <a:latin typeface="Calibri"/>
              </a:rPr>
              <a:t>Logika</a:t>
            </a:r>
            <a:r>
              <a:rPr sz="2800" b="1" i="0" u="none" dirty="0">
                <a:solidFill>
                  <a:srgbClr val="0F172A"/>
                </a:solidFill>
                <a:latin typeface="Calibri"/>
              </a:rPr>
              <a:t> </a:t>
            </a:r>
            <a:r>
              <a:rPr sz="2800" b="1" i="0" u="none" dirty="0" err="1">
                <a:solidFill>
                  <a:srgbClr val="0F172A"/>
                </a:solidFill>
                <a:latin typeface="Calibri"/>
              </a:rPr>
              <a:t>Pembacaan</a:t>
            </a:r>
            <a:r>
              <a:rPr sz="2800" b="1" i="0" u="none" dirty="0">
                <a:solidFill>
                  <a:srgbClr val="0F172A"/>
                </a:solidFill>
                <a:latin typeface="Calibri"/>
              </a:rPr>
              <a:t> </a:t>
            </a:r>
            <a:r>
              <a:rPr sz="2800" b="1" i="0" u="none" dirty="0" err="1">
                <a:solidFill>
                  <a:srgbClr val="0F172A"/>
                </a:solidFill>
                <a:latin typeface="Calibri"/>
              </a:rPr>
              <a:t>Sakelar</a:t>
            </a:r>
            <a:endParaRPr sz="2800" b="1" i="0" u="none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66800" y="1508670"/>
            <a:ext cx="10153650" cy="3097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 dirty="0">
                <a:solidFill>
                  <a:srgbClr val="38BDF8"/>
                </a:solidFill>
                <a:latin typeface="Fira Code"/>
              </a:rPr>
              <a:t>void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 </a:t>
            </a:r>
            <a:r>
              <a:rPr sz="1800" b="0" i="0" u="none" dirty="0">
                <a:solidFill>
                  <a:srgbClr val="FCD34D"/>
                </a:solidFill>
                <a:latin typeface="Fira Code"/>
              </a:rPr>
              <a:t>loop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() {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</a:t>
            </a:r>
            <a:r>
              <a:rPr sz="1800" b="0" i="0" u="none" dirty="0" err="1">
                <a:solidFill>
                  <a:srgbClr val="E2E8F0"/>
                </a:solidFill>
                <a:latin typeface="Fira Code"/>
              </a:rPr>
              <a:t>buttonState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 = </a:t>
            </a:r>
            <a:r>
              <a:rPr sz="1800" b="0" i="0" u="none" dirty="0" err="1">
                <a:solidFill>
                  <a:srgbClr val="FCD34D"/>
                </a:solidFill>
                <a:latin typeface="Fira Code"/>
              </a:rPr>
              <a:t>digitalRead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</a:t>
            </a:r>
            <a:r>
              <a:rPr sz="1800" b="0" i="0" u="none" dirty="0" err="1">
                <a:solidFill>
                  <a:srgbClr val="E2E8F0"/>
                </a:solidFill>
                <a:latin typeface="Fira Code"/>
              </a:rPr>
              <a:t>buttonPin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);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	</a:t>
            </a:r>
            <a:r>
              <a:rPr sz="1800" b="0" i="0" u="none" dirty="0">
                <a:solidFill>
                  <a:srgbClr val="38BDF8"/>
                </a:solidFill>
                <a:latin typeface="Fira Code"/>
              </a:rPr>
              <a:t>if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 (</a:t>
            </a:r>
            <a:r>
              <a:rPr sz="1800" b="0" i="0" u="none" dirty="0" err="1">
                <a:solidFill>
                  <a:srgbClr val="E2E8F0"/>
                </a:solidFill>
                <a:latin typeface="Fira Code"/>
              </a:rPr>
              <a:t>buttonState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 == LOW) {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			</a:t>
            </a:r>
            <a:r>
              <a:rPr sz="1800" b="0" i="0" u="none" dirty="0" err="1">
                <a:solidFill>
                  <a:srgbClr val="FCD34D"/>
                </a:solidFill>
                <a:latin typeface="Fira Code"/>
              </a:rPr>
              <a:t>Serial.println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</a:t>
            </a:r>
            <a:r>
              <a:rPr sz="1800" b="0" i="0" u="none" dirty="0">
                <a:solidFill>
                  <a:srgbClr val="A3E635"/>
                </a:solidFill>
                <a:latin typeface="Fira Code"/>
              </a:rPr>
              <a:t>"</a:t>
            </a:r>
            <a:r>
              <a:rPr sz="1800" b="0" i="0" u="none" dirty="0" err="1">
                <a:solidFill>
                  <a:srgbClr val="A3E635"/>
                </a:solidFill>
                <a:latin typeface="Fira Code"/>
              </a:rPr>
              <a:t>Tombol</a:t>
            </a:r>
            <a:r>
              <a:rPr sz="1800" b="0" i="0" u="none" dirty="0">
                <a:solidFill>
                  <a:srgbClr val="A3E635"/>
                </a:solidFill>
                <a:latin typeface="Fira Code"/>
              </a:rPr>
              <a:t> </a:t>
            </a:r>
            <a:r>
              <a:rPr sz="1800" b="0" i="0" u="none" dirty="0" err="1">
                <a:solidFill>
                  <a:srgbClr val="A3E635"/>
                </a:solidFill>
                <a:latin typeface="Fira Code"/>
              </a:rPr>
              <a:t>Ditekan</a:t>
            </a:r>
            <a:r>
              <a:rPr sz="1800" b="0" i="0" u="none" dirty="0">
                <a:solidFill>
                  <a:srgbClr val="A3E635"/>
                </a:solidFill>
                <a:latin typeface="Fira Code"/>
              </a:rPr>
              <a:t> </a:t>
            </a:r>
            <a:r>
              <a:rPr sz="1800" b="0" i="0" u="none" dirty="0" err="1">
                <a:solidFill>
                  <a:srgbClr val="A3E635"/>
                </a:solidFill>
                <a:latin typeface="Fira Code"/>
              </a:rPr>
              <a:t>Aktif</a:t>
            </a:r>
            <a:r>
              <a:rPr sz="1800" b="0" i="0" u="none" dirty="0">
                <a:solidFill>
                  <a:srgbClr val="A3E635"/>
                </a:solidFill>
                <a:latin typeface="Fira Code"/>
              </a:rPr>
              <a:t>!"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);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	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} </a:t>
            </a:r>
            <a:r>
              <a:rPr sz="1800" b="0" i="0" u="none" dirty="0">
                <a:solidFill>
                  <a:srgbClr val="38BDF8"/>
                </a:solidFill>
                <a:latin typeface="Fira Code"/>
              </a:rPr>
              <a:t>else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 {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			</a:t>
            </a:r>
            <a:r>
              <a:rPr sz="1800" b="0" i="0" u="none" dirty="0" err="1">
                <a:solidFill>
                  <a:srgbClr val="FCD34D"/>
                </a:solidFill>
                <a:latin typeface="Fira Code"/>
              </a:rPr>
              <a:t>Serial.println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</a:t>
            </a:r>
            <a:r>
              <a:rPr sz="1800" b="0" i="0" u="none" dirty="0">
                <a:solidFill>
                  <a:srgbClr val="A3E635"/>
                </a:solidFill>
                <a:latin typeface="Fira Code"/>
              </a:rPr>
              <a:t>"</a:t>
            </a:r>
            <a:r>
              <a:rPr sz="1800" b="0" i="0" u="none" dirty="0" err="1">
                <a:solidFill>
                  <a:srgbClr val="A3E635"/>
                </a:solidFill>
                <a:latin typeface="Fira Code"/>
              </a:rPr>
              <a:t>Tombol</a:t>
            </a:r>
            <a:r>
              <a:rPr sz="1800" b="0" i="0" u="none" dirty="0">
                <a:solidFill>
                  <a:srgbClr val="A3E635"/>
                </a:solidFill>
                <a:latin typeface="Fira Code"/>
              </a:rPr>
              <a:t> </a:t>
            </a:r>
            <a:r>
              <a:rPr sz="1800" b="0" i="0" u="none" dirty="0" err="1">
                <a:solidFill>
                  <a:srgbClr val="A3E635"/>
                </a:solidFill>
                <a:latin typeface="Fira Code"/>
              </a:rPr>
              <a:t>Dilepas</a:t>
            </a:r>
            <a:r>
              <a:rPr sz="1800" b="0" i="0" u="none" dirty="0">
                <a:solidFill>
                  <a:srgbClr val="A3E635"/>
                </a:solidFill>
                <a:latin typeface="Fira Code"/>
              </a:rPr>
              <a:t> </a:t>
            </a:r>
            <a:r>
              <a:rPr sz="1800" b="0" i="0" u="none" dirty="0" err="1">
                <a:solidFill>
                  <a:srgbClr val="A3E635"/>
                </a:solidFill>
                <a:latin typeface="Fira Code"/>
              </a:rPr>
              <a:t>Pasif</a:t>
            </a:r>
            <a:r>
              <a:rPr sz="1800" b="0" i="0" u="none" dirty="0">
                <a:solidFill>
                  <a:srgbClr val="A3E635"/>
                </a:solidFill>
                <a:latin typeface="Fira Code"/>
              </a:rPr>
              <a:t>."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);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	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} 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lang="en-ID" dirty="0">
                <a:solidFill>
                  <a:srgbClr val="E2E8F0"/>
                </a:solidFill>
                <a:latin typeface="Fira Code"/>
              </a:rPr>
              <a:t>	</a:t>
            </a:r>
            <a:r>
              <a:rPr sz="1800" b="0" i="0" u="none" dirty="0">
                <a:solidFill>
                  <a:srgbClr val="FCD34D"/>
                </a:solidFill>
                <a:latin typeface="Fira Code"/>
              </a:rPr>
              <a:t>delay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(</a:t>
            </a:r>
            <a:r>
              <a:rPr sz="1800" b="0" i="0" u="none" dirty="0">
                <a:solidFill>
                  <a:srgbClr val="F9A8D4"/>
                </a:solidFill>
                <a:latin typeface="Fira Code"/>
              </a:rPr>
              <a:t>50</a:t>
            </a:r>
            <a:r>
              <a:rPr sz="1800" b="0" i="0" u="none" dirty="0">
                <a:solidFill>
                  <a:srgbClr val="E2E8F0"/>
                </a:solidFill>
                <a:latin typeface="Fira Code"/>
              </a:rPr>
              <a:t>);</a:t>
            </a:r>
            <a:endParaRPr lang="en-US" sz="1800" b="0" i="0" u="none" dirty="0">
              <a:solidFill>
                <a:srgbClr val="E2E8F0"/>
              </a:solidFill>
              <a:latin typeface="Fira Code"/>
            </a:endParaRPr>
          </a:p>
          <a:p>
            <a:pPr algn="l">
              <a:lnSpc>
                <a:spcPts val="2700"/>
              </a:lnSpc>
            </a:pPr>
            <a:r>
              <a:rPr sz="1800" b="0" i="0" u="none" dirty="0">
                <a:solidFill>
                  <a:srgbClr val="E2E8F0"/>
                </a:solidFill>
                <a:latin typeface="Fira Code"/>
              </a:rPr>
              <a:t>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3845123"/>
            <a:ext cx="762000" cy="571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5361022" y="2650777"/>
            <a:ext cx="1469954" cy="4143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4000" b="1" i="0" u="none">
                <a:solidFill>
                  <a:srgbClr val="F8FAFC"/>
                </a:solidFill>
                <a:latin typeface="Calibri"/>
              </a:rPr>
              <a:t>Selesai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78574" y="3245048"/>
            <a:ext cx="3434850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0" i="0" u="none" dirty="0" err="1">
                <a:solidFill>
                  <a:srgbClr val="94A3B8"/>
                </a:solidFill>
                <a:latin typeface="Calibri"/>
              </a:rPr>
              <a:t>Sesi</a:t>
            </a:r>
            <a:r>
              <a:rPr sz="2400" b="0" i="0" u="none" dirty="0">
                <a:solidFill>
                  <a:srgbClr val="94A3B8"/>
                </a:solidFill>
                <a:latin typeface="Calibri"/>
              </a:rPr>
              <a:t> Tanya Jawab </a:t>
            </a:r>
            <a:r>
              <a:rPr sz="2400" b="0" i="0" u="none" dirty="0" err="1">
                <a:solidFill>
                  <a:srgbClr val="94A3B8"/>
                </a:solidFill>
                <a:latin typeface="Calibri"/>
              </a:rPr>
              <a:t>Praktikum</a:t>
            </a:r>
            <a:endParaRPr sz="2400" b="0" i="0" u="none" dirty="0">
              <a:solidFill>
                <a:srgbClr val="94A3B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" y="1165770"/>
            <a:ext cx="11049000" cy="933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1500" y="2099220"/>
            <a:ext cx="11049000" cy="933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71500" y="3032670"/>
            <a:ext cx="11049000" cy="12287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1500" y="4261395"/>
            <a:ext cx="11049000" cy="12287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71500" y="208969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1500" y="208969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71500" y="302314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1500" y="302314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71500" y="425187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71500" y="425187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1500" y="548059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1500" y="548059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89608"/>
            <a:ext cx="857250" cy="4762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23058"/>
            <a:ext cx="857250" cy="4762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404145"/>
            <a:ext cx="857250" cy="4762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632870"/>
            <a:ext cx="857250" cy="4762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5861595"/>
            <a:ext cx="857250" cy="4762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71500" y="571500"/>
            <a:ext cx="2846058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Calibri"/>
              </a:rPr>
              <a:t>Image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6875" y="1308645"/>
            <a:ext cx="7163283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334155"/>
                </a:solidFill>
                <a:latin typeface="Calibri"/>
              </a:rPr>
              <a:t>https://cdn-shop.adafruit.com/970x728/3269-04.jpg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6875" y="1651545"/>
            <a:ext cx="3686844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334155"/>
                </a:solidFill>
                <a:latin typeface="Calibri"/>
              </a:rPr>
              <a:t>Source: </a:t>
            </a:r>
            <a:r>
              <a:rPr sz="2000" b="0" i="0" u="none">
                <a:solidFill>
                  <a:srgbClr val="4F46E5"/>
                </a:solidFill>
                <a:latin typeface="Calibri"/>
              </a:rPr>
              <a:t>www.adafruit.com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6875" y="2242095"/>
            <a:ext cx="10525125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334155"/>
                </a:solidFill>
                <a:latin typeface="Calibri"/>
              </a:rPr>
              <a:t>https://dwma4bz18k1bd.cloudfront.net/tutorials/Arduino-Set-Up-Window.png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6875" y="2584995"/>
            <a:ext cx="4268762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334155"/>
                </a:solidFill>
                <a:latin typeface="Calibri"/>
              </a:rPr>
              <a:t>Source: </a:t>
            </a:r>
            <a:r>
              <a:rPr sz="2000" b="0" i="0" u="none">
                <a:solidFill>
                  <a:srgbClr val="4F46E5"/>
                </a:solidFill>
                <a:latin typeface="Calibri"/>
              </a:rPr>
              <a:t>www.circuitbread.com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6875" y="3175545"/>
            <a:ext cx="10048875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334155"/>
                </a:solidFill>
                <a:latin typeface="Calibri"/>
              </a:rPr>
              <a:t>https://raw.githubusercontent.com/gokulkrishh/vscode-night-mode/master/images/vscode-activated.png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6875" y="3813720"/>
            <a:ext cx="5345162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334155"/>
                </a:solidFill>
                <a:latin typeface="Calibri"/>
              </a:rPr>
              <a:t>Source: </a:t>
            </a:r>
            <a:r>
              <a:rPr sz="2000" b="0" i="0" u="none">
                <a:solidFill>
                  <a:srgbClr val="4F46E5"/>
                </a:solidFill>
                <a:latin typeface="Calibri"/>
              </a:rPr>
              <a:t>marketplace.visualstudio.com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6875" y="4404270"/>
            <a:ext cx="10048875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334155"/>
                </a:solidFill>
                <a:latin typeface="Calibri"/>
              </a:rPr>
              <a:t>https://media.rs-online.com/image/upload/b_rgb:FFFFFF,c_pad,dpr_2.625,f_auto,h_214,q_auto,w_380/c_pad,h_214,w_380/F7916454-01?pgw=1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6875" y="5042445"/>
            <a:ext cx="3528156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334155"/>
                </a:solidFill>
                <a:latin typeface="Calibri"/>
              </a:rPr>
              <a:t>Source: </a:t>
            </a:r>
            <a:r>
              <a:rPr sz="2000" b="0" i="0" u="none">
                <a:solidFill>
                  <a:srgbClr val="4F46E5"/>
                </a:solidFill>
                <a:latin typeface="Calibri"/>
              </a:rPr>
              <a:t>no.rs-online.com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6875" y="5632995"/>
            <a:ext cx="10048875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334155"/>
                </a:solidFill>
                <a:latin typeface="Calibri"/>
              </a:rPr>
              <a:t>https://asset.conrad.com/media10/isa/160267/c1/-/en/440048_BB_00_FB/image.jpg?x=400&amp;y=400&amp;format=jpg&amp;ex=400&amp;ey=400&amp;align=center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6875" y="6271170"/>
            <a:ext cx="3598664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i="0" u="none">
                <a:solidFill>
                  <a:srgbClr val="334155"/>
                </a:solidFill>
                <a:latin typeface="Calibri"/>
              </a:rPr>
              <a:t>Source: </a:t>
            </a:r>
            <a:r>
              <a:rPr sz="2000" b="0" i="0" u="none">
                <a:solidFill>
                  <a:srgbClr val="4F46E5"/>
                </a:solidFill>
                <a:latin typeface="Calibri"/>
              </a:rPr>
              <a:t>www.conrad.com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1135</Words>
  <Application>Microsoft Office PowerPoint</Application>
  <PresentationFormat>Widescreen</PresentationFormat>
  <Paragraphs>215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Arial</vt:lpstr>
      <vt:lpstr>Calibri</vt:lpstr>
      <vt:lpstr>Fira Code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Asrul Abdullah</cp:lastModifiedBy>
  <cp:revision>5</cp:revision>
  <dcterms:created xsi:type="dcterms:W3CDTF">2013-01-27T09:14:16Z</dcterms:created>
  <dcterms:modified xsi:type="dcterms:W3CDTF">2026-09-27T03:20:01Z</dcterms:modified>
  <cp:category/>
</cp:coreProperties>
</file>