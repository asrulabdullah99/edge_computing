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43.xml" ContentType="application/vnd.openxmlformats-officedocument.presentationml.slide+xml"/>
  <ns0:Override PartName="/ppt/slides/slide44.xml" ContentType="application/vnd.openxmlformats-officedocument.presentationml.slide+xml"/>
  <ns0:Override PartName="/ppt/slides/slide45.xml" ContentType="application/vnd.openxmlformats-officedocument.presentationml.slide+xml"/>
  <ns0:Override PartName="/ppt/slides/slide46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  <ns0:sldId id="298" ns1:id="rId49"/>
    <ns0:sldId id="299" ns1:id="rId50"/>
    <ns0:sldId id="300" ns1:id="rId51"/>
    <ns0:sldId id="301" ns1:id="rId52"/>
  </ns0:sldIdLst>
  <ns0:sldSz cx="12192000" cy="6858000" type="screen4x3"/>
  <ns0:notesSz cx="6858000" cy="9144000"/>
  <ns0:embeddedFontLst>
    <ns0:embeddedFont>
      <ns0:font typeface="Inter"/>
      <ns0:bold ns1:id="rIdFont53"/>
      <ns0:regular ns1:id="rIdFont54"/>
    </ns0:embeddedFont>
    <ns0:embeddedFont>
      <ns0:font typeface="Fira Code"/>
      <ns0:regular ns1:id="rIdFont55"/>
    </ns0:embeddedFont>
    <ns0:embeddedFont>
      <ns0:font typeface="Space Grotesk"/>
      <ns0:bold ns1:id="rIdFont5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47" Type="http://schemas.openxmlformats.org/officeDocument/2006/relationships/slide" Target="slides/slide41.xml" /><ns0:Relationship Id="rId48" Type="http://schemas.openxmlformats.org/officeDocument/2006/relationships/slide" Target="slides/slide42.xml" /><ns0:Relationship Id="rId49" Type="http://schemas.openxmlformats.org/officeDocument/2006/relationships/slide" Target="slides/slide43.xml" /><ns0:Relationship Id="rId50" Type="http://schemas.openxmlformats.org/officeDocument/2006/relationships/slide" Target="slides/slide44.xml" /><ns0:Relationship Id="rId51" Type="http://schemas.openxmlformats.org/officeDocument/2006/relationships/slide" Target="slides/slide45.xml" /><ns0:Relationship Id="rId52" Type="http://schemas.openxmlformats.org/officeDocument/2006/relationships/slide" Target="slides/slide46.xml" /><ns0:Relationship Id="rIdFont53" Type="http://schemas.openxmlformats.org/officeDocument/2006/relationships/font" Target="fonts/f07191c8-80c3-476d-9bfa-766eebc5591b.fntdata" /><ns0:Relationship Id="rIdFont54" Type="http://schemas.openxmlformats.org/officeDocument/2006/relationships/font" Target="fonts/74f5c6cf-15da-4659-a968-16d4555ade75.fntdata" /><ns0:Relationship Id="rIdFont55" Type="http://schemas.openxmlformats.org/officeDocument/2006/relationships/font" Target="fonts/313a0411-285a-4eb4-94d3-0410bf791579.fntdata" /><ns0:Relationship Id="rIdFont56" Type="http://schemas.openxmlformats.org/officeDocument/2006/relationships/font" Target="fonts/154f44e3-5e80-4ee5-8309-90c012fb9c5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192785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38750" y="2303264"/>
            <a:ext cx="17145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801" y="2668934"/>
            <a:ext cx="11176396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IoT Data Pipeline &amp; Praktikum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3568005"/>
            <a:ext cx="6096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Dari Sensor, Cloud, hingga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81051"/>
            <a:ext cx="5257800" cy="1897260"/>
          </a:xfrm>
          <a:prstGeom prst="roundRect">
            <a:avLst>
              <a:gd name="adj" fmla="val 803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981051"/>
            <a:ext cx="5257800" cy="1897260"/>
          </a:xfrm>
          <a:prstGeom prst="roundRect">
            <a:avLst>
              <a:gd name="adj" fmla="val 803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43251"/>
            <a:ext cx="5257800" cy="1897260"/>
          </a:xfrm>
          <a:prstGeom prst="roundRect">
            <a:avLst>
              <a:gd name="adj" fmla="val 803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343251"/>
            <a:ext cx="5257800" cy="1897260"/>
          </a:xfrm>
          <a:prstGeom prst="roundRect">
            <a:avLst>
              <a:gd name="adj" fmla="val 803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AGENDA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Peta Perjalanan Hari 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362051"/>
            <a:ext cx="59007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01. Protokol Dasar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8573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Kupas tuntas koneksi HTTP POST/GET dan MQTT.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362051"/>
            <a:ext cx="5486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02. Integrasi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8573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Pipeline pengiriman telemetry secara real-time.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724251"/>
            <a:ext cx="59007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03. Dataset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52195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Pengumpulan data historis untuk pemodelan.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724251"/>
            <a:ext cx="5486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04. Praktikum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52195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Implementasi langsung menggunakan script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2587" y="2790825"/>
            <a:ext cx="12668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BAGIAN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2998" y="3156495"/>
            <a:ext cx="802600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Pengantar Data Pipeline IoT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929830"/>
            <a:ext cx="5638800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DEFINISI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Apa itu Pipeline Data IoT?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3310830"/>
            <a:ext cx="5867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Tujuan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806130"/>
            <a:ext cx="49720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Mengubah sinyal sensor mentah menjadi wawasan analitik bisnis yang dapat ditindaklanjuti.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924204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109"/>
            <a:ext cx="4667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Jalur Terintegrasi: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Rute perpindahan data ujung ke ujung.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71656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18470"/>
            <a:ext cx="4667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Edge ke Cloud: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Sensor mengirim metrik fisik ke server pusat.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508926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10831"/>
            <a:ext cx="4667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Transformasi: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Pembersihan dan standarisasi format data secara instan.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651"/>
            <a:ext cx="10972800" cy="44197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GAMBARAN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Arsitektur End-to-End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FUNDAMEN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Mengapa Rekayasa Jalur Data Penting?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" y="316798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69890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Efisiensi Bandwidth: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Menghemat kuota jaringan seluler IoT.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64036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42270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Keandalan Sistem: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Mencegah kehilangan data saat koneksi terputus.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112746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651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Skalabilitas: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Mendukung penambahan ribuan sensor sekaligus.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585126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87031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Keamanan Data: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Mengenkripsi setiap byte menuju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3120"/>
            <a:ext cx="34543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823120"/>
            <a:ext cx="3454449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823120"/>
            <a:ext cx="34543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204120"/>
            <a:ext cx="26923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0" y="3204120"/>
            <a:ext cx="269244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950" y="3204120"/>
            <a:ext cx="26923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KENDALA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Tantangan Utama Eksekusi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73752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Latensi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232820"/>
            <a:ext cx="27875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Jeda waktu respons kritis industri.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700" y="3737520"/>
            <a:ext cx="353384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Interupsi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700" y="4232820"/>
            <a:ext cx="2787699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Koneksi nirkabel sering terputus tiba-tiba.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8950" y="373752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Daya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8950" y="4232820"/>
            <a:ext cx="27875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Keterbatasan suplai baterai perangkat 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48300" y="2790825"/>
            <a:ext cx="1295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BAGIAN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8032" y="3156495"/>
            <a:ext cx="7475934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Protokol Komunikasi HTTP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15025" y="2929830"/>
            <a:ext cx="5667375" cy="2217241"/>
          </a:xfrm>
          <a:prstGeom prst="roundRect">
            <a:avLst>
              <a:gd name="adj" fmla="val 687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15025" y="2929830"/>
            <a:ext cx="57150" cy="2217241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KONSEP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Pendekatan Request-Response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3175" y="3310830"/>
            <a:ext cx="58388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Analogi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3175" y="3806130"/>
            <a:ext cx="4943475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Seperti memesan makanan di restoran; Anda harus menunggu pelayan kembali membawa pesanan.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924204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109"/>
            <a:ext cx="4638675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Siklus Statis: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Klien meminta, server merespons langsung.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71656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18470"/>
            <a:ext cx="4638675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Struktur Tetap: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Memiliki Header panjang dan Body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508926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10831"/>
            <a:ext cx="4638675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Sinkron: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Menunggu balasan sebelum proses berikutnya jalan.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28651"/>
            <a:ext cx="5257800" cy="4419748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28651"/>
            <a:ext cx="5257800" cy="4419748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PERBANDINGAN METODE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HTTP GET vs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209651"/>
            <a:ext cx="59007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Metode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704951"/>
            <a:ext cx="45910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Digunakan semata untuk mengambil data dari server. Parameter dikirim terbuka di dalam URL.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2209651"/>
            <a:ext cx="5486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Metode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704951"/>
            <a:ext cx="45910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Digunakan untuk mengirim data metrik. Beban disembunyikan di dalam body 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3513"/>
            <a:ext cx="10972800" cy="2809875"/>
          </a:xfrm>
          <a:prstGeom prst="roundRect">
            <a:avLst>
              <a:gd name="adj" fmla="val 406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ANATOMI HEADER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Struktur Request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38313"/>
            <a:ext cx="10458450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E2E8F0"/>
                </a:solidFill>
                <a:latin typeface="Fira Code"/>
              </a:rPr>
              <a:t>POST /api/v1/telemetry HTTP/1.1 Host: cloud.iot-server.com Content-Type: application/json Authorization: Bearer abc123_token Content-Length: 42 {"suhu": 28.5, "kelembaban": 70}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81051"/>
            <a:ext cx="52578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981051"/>
            <a:ext cx="52578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62051"/>
            <a:ext cx="4495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362051"/>
            <a:ext cx="4495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EVALUASI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Kelebihan HTTP di Ekosistem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895451"/>
            <a:ext cx="59007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Kompatibilitas Luas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3907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Didukung penuh oleh seluruh platform dan bahasa pemrograman web modern.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895451"/>
            <a:ext cx="5486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Lewat Firewall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3907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Beroperasi di port standar (80/443) tanpa diblokir oleh infrastruktur jaringan.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81051"/>
            <a:ext cx="52578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981051"/>
            <a:ext cx="52578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62051"/>
            <a:ext cx="4495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362051"/>
            <a:ext cx="4495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EVALUASI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Kelemahan HTTP untuk Perangkat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895451"/>
            <a:ext cx="59007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Overhead Besar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3907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Ukuran header teks sangat berat untuk perangkat berspesifikasi sangat rendah.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895451"/>
            <a:ext cx="5486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Boros Daya Baterai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3907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Membuka dan menutup sesi TCP berulang kali menguras kapasitas baterai.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9830"/>
            <a:ext cx="3454300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929830"/>
            <a:ext cx="3454449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769840"/>
            <a:ext cx="3454300" cy="2537221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SKENARIO IDEAL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Kapan Menggunakan HTTP?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31083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Konfigurasi Alat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06130"/>
            <a:ext cx="27875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Proses setup atau sinkronisasi jam saat alat baru menyala.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700" y="3310830"/>
            <a:ext cx="353384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Update Firmware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700" y="3806130"/>
            <a:ext cx="2787699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Mengunduh file biner besar melalui protokol yang stabil (OTA).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8950" y="315084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Data Harian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8950" y="3646140"/>
            <a:ext cx="278755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Pengiriman data rangkuman hanya satu kali dalam dua puluh empat jam.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26843" y="2790825"/>
            <a:ext cx="1738312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PRAKTIKUM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156495"/>
            <a:ext cx="64008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Simulasi Koneksi HTTP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066901"/>
            <a:ext cx="5257800" cy="171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PERSIAPAN ALAT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Kebutuhan Sistem Praktikum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2678489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0394"/>
            <a:ext cx="619125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Python 3.8+: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Terinstal di komputer lokal.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15087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2775"/>
            <a:ext cx="5048250" cy="65901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Pustaka: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Jalankan perintah 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pip install requests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96228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64185"/>
            <a:ext cx="5048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Koneksi: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Akses internet terbuka tanpa proxy khusus.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754641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6546"/>
            <a:ext cx="5048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Endpoint API: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Disediakan simulasi public REST API.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04863"/>
            <a:ext cx="10972800" cy="4067175"/>
          </a:xfrm>
          <a:prstGeom prst="roundRect">
            <a:avLst>
              <a:gd name="adj" fmla="val 28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PENULISAN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Script HTTP POST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9663"/>
            <a:ext cx="10458450" cy="3457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E2E8F0"/>
                </a:solidFill>
                <a:latin typeface="Fira Code"/>
              </a:rPr>
              <a:t>import requests import json url = "https://httpbin.org/post" payload = {"sensor": "Suhu_01", "value": 31.2} headers = {"Content-Type": "application/json"} # Mengirim data sensor ke server response = requests.post(url, json=payload, headers=headers) print("Status Code:", response.status_code) print("Response:", response.text)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7701"/>
            <a:ext cx="10972800" cy="4381500"/>
          </a:xfrm>
          <a:prstGeom prst="roundRect">
            <a:avLst>
              <a:gd name="adj" fmla="val 260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PENULISAN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Script HTTP GET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52501"/>
            <a:ext cx="10458450" cy="3771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E2E8F0"/>
                </a:solidFill>
                <a:latin typeface="Fira Code"/>
              </a:rPr>
              <a:t>import requests # Mengambil parameter konfigurasi dari server url = "https://httpbin.org/get?config=update_rate" response = requests.get(url) if response.status_code == 200: data = response.json() print("Konfigurasi diterima:", data['args']) else: print("Gagal mengambil data")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9830"/>
            <a:ext cx="3454300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929830"/>
            <a:ext cx="3454449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929830"/>
            <a:ext cx="3454300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VALIDASI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Analisis Output Respons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31083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Kode 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06130"/>
            <a:ext cx="27875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Operasi berhasil sepenuhnya tanpa kendala internal.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700" y="3310830"/>
            <a:ext cx="353384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Kode 401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700" y="3806130"/>
            <a:ext cx="2787699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Token autentikasi kedaluwarsa atau salah format.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8950" y="331083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Space Grotesk"/>
              </a:rPr>
              <a:t>Kode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8950" y="3806130"/>
            <a:ext cx="27875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Terdapat kesalahan logika kode di dalam server cloud.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28416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48300" y="2516534"/>
            <a:ext cx="1295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BAGIAN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2882205"/>
            <a:ext cx="129540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Protokol Message Queue Telemetry Transport (MQTT)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KONSEP DASAR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Pendekatan Publish-Subscribe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" y="340417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6080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Dekopling: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Sensor dan aplikasi tidak perlu saling terhubung langsung.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87655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78460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Peran Broker: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Penengah lalu lintas yang merutekan semua pesan masuk.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348936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50841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Asinkron: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Sensor terus mengirim tanpa menunggu balasan pembaca.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651"/>
            <a:ext cx="10972800" cy="44197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GAMBARAN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Arsitektur Broker MQTT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63130"/>
            <a:ext cx="3454300" cy="2750641"/>
          </a:xfrm>
          <a:prstGeom prst="roundRect">
            <a:avLst>
              <a:gd name="adj" fmla="val 55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663130"/>
            <a:ext cx="3454449" cy="2750641"/>
          </a:xfrm>
          <a:prstGeom prst="roundRect">
            <a:avLst>
              <a:gd name="adj" fmla="val 55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823120"/>
            <a:ext cx="34543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044130"/>
            <a:ext cx="26923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0" y="3044130"/>
            <a:ext cx="269244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950" y="3204120"/>
            <a:ext cx="26923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TERMINOLOGI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Komponen Utama Ekosistem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7753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Klien (Client)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072830"/>
            <a:ext cx="27875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Perangkat fisik atau aplikasi perangkat lunak penerima.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700" y="3577530"/>
            <a:ext cx="353384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Pusat (Broker)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700" y="4072830"/>
            <a:ext cx="2787699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Server sentral pengatur seluruh lalu lintas distribusi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8950" y="373752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Kanal (Topic)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8950" y="4232820"/>
            <a:ext cx="27875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Jalur penyortiran pesan berbasis string hierarkis.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PENATAAN KANAL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Anatomi Struktur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" y="3153697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5602"/>
            <a:ext cx="11277600" cy="32950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Format Hierarki: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Dipisahkan garis miring tegas (contoh: 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pabrik/mesin1/suhu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635603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37508"/>
            <a:ext cx="11277600" cy="32950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Sensitif Huruf: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Format 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Suhu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berbeda mutlak dengan 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suhu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117508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9413"/>
            <a:ext cx="11277600" cy="32950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Wildcard Tunggal (+):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Mengambil tepat satu level (contoh: 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pabrik/+/suhu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599414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01319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Wildcard Global (#):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Mengambil seluruh level di bawahnya berurutan.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3906" y="1718369"/>
            <a:ext cx="3024187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TINGKAT KUALITAS (QOS)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52007" y="2084040"/>
            <a:ext cx="388798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At Most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05450" y="2937420"/>
            <a:ext cx="11811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Inter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499520"/>
            <a:ext cx="7143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Pesan dikirim maksimal satu kali tanpa memerlukan konfirmasi penerimaan. (Fire and forget).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3906" y="1718369"/>
            <a:ext cx="3024187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TINGKAT KUALITAS (QOS)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3248" y="2084040"/>
            <a:ext cx="402550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At Least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7375" y="2937420"/>
            <a:ext cx="85725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499520"/>
            <a:ext cx="7143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Pesan minimal sampai satu kali dengan jaminan konfirmasi tanda terima dari sisi broker.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3906" y="1718369"/>
            <a:ext cx="3024187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TINGKAT KUALITAS (QOS)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9511" y="2084040"/>
            <a:ext cx="3812976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Exactly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4025" y="2937420"/>
            <a:ext cx="112395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Inter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499520"/>
            <a:ext cx="7143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Pasti sampai tepat satu kali melalui empat langkah rumit pertukaran status konfirmasi.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781151"/>
            <a:ext cx="269319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02793" y="2781151"/>
            <a:ext cx="392028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23075" y="2781151"/>
            <a:ext cx="435932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577381"/>
            <a:ext cx="269319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02793" y="3577381"/>
            <a:ext cx="392028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075" y="3577381"/>
            <a:ext cx="435932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373612"/>
            <a:ext cx="269319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02793" y="4373612"/>
            <a:ext cx="392028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075" y="4373612"/>
            <a:ext cx="435932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5169842"/>
            <a:ext cx="269319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2793" y="5169842"/>
            <a:ext cx="392028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075" y="5169842"/>
            <a:ext cx="435932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966073"/>
            <a:ext cx="269319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2793" y="5966073"/>
            <a:ext cx="392028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075" y="5966073"/>
            <a:ext cx="435932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2057251"/>
          <a:ext cx="10972798" cy="3937396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93193"/>
                <a:gridCol w="3920281"/>
                <a:gridCol w="4359324"/>
              </a:tblGrid>
              <a:tr h="787479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0F172A"/>
                          </a:solidFill>
                          <a:latin typeface="Inter"/>
                        </a:rPr>
                        <a:t>Karakteristik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0F172A"/>
                          </a:solidFill>
                          <a:latin typeface="Inter"/>
                        </a:rPr>
                        <a:t>Protokol MQTT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0F172A"/>
                          </a:solidFill>
                          <a:latin typeface="Inter"/>
                        </a:rPr>
                        <a:t>Protokol HTTP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7479"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Arsitektur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Publish dan Subscribe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Request dan Response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7479"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Beban Header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Sangat kecil (2 Byte minimum)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Sangat besar (ratusan Byte)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7479"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Durasi Koneksi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Terbuka stabil terus menerus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Buka tutup setiap permintaan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7480"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Orientasi Perangkat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Optimal untuk mikrokontroler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334155"/>
                          </a:solidFill>
                          <a:latin typeface="Inter"/>
                        </a:rPr>
                        <a:t>Optimal untuk mesin browser web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PERBANDINGAN LANGSUNG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MQTT vs Protokol HTTP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08984" y="2790825"/>
            <a:ext cx="1774031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PRAKTIKUM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6847" y="3156495"/>
            <a:ext cx="6438304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Distribusi Pesan MQTT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PERSIAPAN ALAT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Kebutuhan Lingkungan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" y="3158460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60365"/>
            <a:ext cx="11277600" cy="32950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Pustaka Klien: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Eksekusi instalasi 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pip install paho-mqtt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64036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42270"/>
            <a:ext cx="11277600" cy="32950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Public Broker: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Menggunakan 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broker.hivemq.com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port 1883.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4122271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24176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Terminal Satu: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Berperan sebagai skrip Publisher (sensor ping).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594651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6556"/>
            <a:ext cx="11277600" cy="31998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Terminal Dua: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Berperan sebagai skrip Subscriber (penerima pasif).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47701"/>
            <a:ext cx="10972800" cy="4381500"/>
          </a:xfrm>
          <a:prstGeom prst="roundRect">
            <a:avLst>
              <a:gd name="adj" fmla="val 260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PENULISAN KODE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Script Publisher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52501"/>
            <a:ext cx="10458450" cy="3771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E2E8F0"/>
                </a:solidFill>
                <a:latin typeface="Fira Code"/>
              </a:rPr>
              <a:t>import paho.mqtt.client as mqtt import json import time client = mqtt.Client(client_id="Sensor_Node_01") client.connect("broker.hivemq.com", 1883) payload = json.dumps({"suhu": 24.5, "status": "aktif"}) # Mengirimkan data metrik ke broker setiap detik client.publish("pabrik/mesin/suhu", payload, qos=1) print("Berhasil dipublikasi via saluran MQTT")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28651"/>
            <a:ext cx="10972800" cy="5010150"/>
          </a:xfrm>
          <a:prstGeom prst="roundRect">
            <a:avLst>
              <a:gd name="adj" fmla="val 22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PENULISAN KODE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Script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33451"/>
            <a:ext cx="10458450" cy="440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E2E8F0"/>
                </a:solidFill>
                <a:latin typeface="Fira Code"/>
              </a:rPr>
              <a:t>import paho.mqtt.client as mqtt def on_message(client, userdata, msg): print(f"Topik: {msg.topic}") print(f"Data Masuk: {msg.payload.decode()}") client = mqtt.Client(client_id="Penerima_Dashboard") client.on_message = on_message client.connect("broker.hivemq.com", 1883) client.subscribe("pabrik/mesin/suhu", qos=1) # Memblokir thread untuk mendengarkan selamanya client.loop_forever()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43537" y="2790825"/>
            <a:ext cx="130492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BAGIAN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725" y="3156495"/>
            <a:ext cx="8388548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Mengirim Telemetry ke Cloud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3080295"/>
            <a:ext cx="5638800" cy="1916310"/>
          </a:xfrm>
          <a:prstGeom prst="roundRect">
            <a:avLst>
              <a:gd name="adj" fmla="val 79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DEFINISI LOGIS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Konsep Data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3461295"/>
            <a:ext cx="5867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Contoh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956595"/>
            <a:ext cx="4972050" cy="659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{"ts": 1698765432, "kelembaban": 55}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924204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109"/>
            <a:ext cx="4667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Aliran Konstan: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Pengukuran otomatis berjalan ritmis terus menerus.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716565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18470"/>
            <a:ext cx="4667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Stempel Waktu: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Catatan kronologis mutlak saat data diambil (timestamp).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508926"/>
            <a:ext cx="1333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10831"/>
            <a:ext cx="4667250" cy="63996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334155"/>
                </a:solidFill>
                <a:latin typeface="Inter"/>
              </a:rPr>
              <a:t>Ringan &amp; Ringkas: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Hanya berisi pasangan kunci dan angka metrik penting.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9830"/>
            <a:ext cx="3454300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929830"/>
            <a:ext cx="3454449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929830"/>
            <a:ext cx="3454300" cy="2217241"/>
          </a:xfrm>
          <a:prstGeom prst="roundRect">
            <a:avLst>
              <a:gd name="adj" fmla="val 6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LAYANAN 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Platform Cloud IoT Populer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31083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AWS IoT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06130"/>
            <a:ext cx="27875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Infrastruktur skala raksasa tingkat enterprise global.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700" y="3310830"/>
            <a:ext cx="353384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ThingsBoard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700" y="3806130"/>
            <a:ext cx="2787699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Fokus tajam pada visualisasi perangkat mandiri instan.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8950" y="331083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Ubidots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8950" y="3806130"/>
            <a:ext cx="27875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Pembuatan dashboard eksekutif cepat berbasis widget rapi.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651"/>
            <a:ext cx="10972800" cy="44197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GAMBARAN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Monitoring Dashboard Telemetry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08984" y="2790825"/>
            <a:ext cx="1774031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PRAKTIKUM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7976" y="3156495"/>
            <a:ext cx="8376046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Integrasi Penuh ThingsBoard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28651"/>
            <a:ext cx="10972800" cy="5010150"/>
          </a:xfrm>
          <a:prstGeom prst="roundRect">
            <a:avLst>
              <a:gd name="adj" fmla="val 22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PENULISAN KODE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Push Data via Access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33451"/>
            <a:ext cx="10458450" cy="440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E2E8F0"/>
                </a:solidFill>
                <a:latin typeface="Fira Code"/>
              </a:rPr>
              <a:t>import paho.mqtt.client as mqtt import json THINGSBOARD_HOST = "demo.thingsboard.io" ACCESS_TOKEN = "TOKEN_PERANGKAT_ANDA" client = mqtt.Client() client.username_pw_set(ACCESS_TOKEN) client.connect(THINGSBOARD_HOST, 1883, 60) payload = json.dumps({"temperatur": 30.2, "getaran": 0.4}) # Topic standar wajib ThingsBoard untuk telemetry client.publish("v1/devices/me/telemetry", payload) print("Telemetry sukses terkirim ke platform")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48300" y="2790825"/>
            <a:ext cx="1295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BAGIAN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078" y="3156495"/>
            <a:ext cx="11703843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Pengumpulan Dataset Machine Learning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81051"/>
            <a:ext cx="52578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981051"/>
            <a:ext cx="5257800" cy="2430660"/>
          </a:xfrm>
          <a:prstGeom prst="roundRect">
            <a:avLst>
              <a:gd name="adj" fmla="val 62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62051"/>
            <a:ext cx="4495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362051"/>
            <a:ext cx="4495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FUNDAMEN KECERDASAN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Mengapa AI Membutuhkan Data Sensor?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895451"/>
            <a:ext cx="59007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Deteksi Anomali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3907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Mengenali penyimpangan getaran yang mengindikasikan kerusakan mesin berat.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895451"/>
            <a:ext cx="5486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Perawatan Prediktif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390751"/>
            <a:ext cx="4591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Menebak sisa umur optimal komponen sebelum hancur dan gagal.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651"/>
            <a:ext cx="10972800" cy="44197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GAMBARAN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Karakteristik Data Runtun Waktu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9840"/>
            <a:ext cx="3454300" cy="2537221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769840"/>
            <a:ext cx="3454449" cy="2537221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769840"/>
            <a:ext cx="3454300" cy="2537221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PENYIMPANAN ANALITIK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Format Repositori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15084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File CSV Terbuka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646140"/>
            <a:ext cx="278755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Teks sederhana pembatas koma universal. Mudah dibaca langsung.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700" y="3150840"/>
            <a:ext cx="353384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Time-Series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700" y="3646140"/>
            <a:ext cx="2787699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InfluxDB mengoptimalkan penyisipan cepat data jutaan baris.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8950" y="3150840"/>
            <a:ext cx="3533644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Kolom 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8950" y="3646140"/>
            <a:ext cx="278755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Penyimpanan terkompresi efisien skala besar untuk ekosistem data.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09876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03031" y="2790825"/>
            <a:ext cx="1785937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PRAKTIKUM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7970" y="3156495"/>
            <a:ext cx="8476059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Data Logger ke File CSV Lokal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28651"/>
            <a:ext cx="10972800" cy="4695825"/>
          </a:xfrm>
          <a:prstGeom prst="roundRect">
            <a:avLst>
              <a:gd name="adj" fmla="val 243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PENULISAN KODE PEREKAM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7527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Script Pengumpul Dataset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33451"/>
            <a:ext cx="10458450" cy="408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E2E8F0"/>
                </a:solidFill>
                <a:latin typeface="Fira Code"/>
              </a:rPr>
              <a:t>import csv, json import time def on_message(client, userdata, msg): # Mengurai pesan masuk data = json.loads(msg.payload.decode()) # Menulis langsung baris baru ke file dataset log with open('dataset_mesin.csv', 'a', newline='') as f: writer = csv.writer(f) writer.writerow([time.time(), data['suhu']]) print("Satu baris direkam!")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65139"/>
            <a:ext cx="5334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2898" y="2903339"/>
            <a:ext cx="9626203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Pipeline Sukses Tersusun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7781" y="3802409"/>
            <a:ext cx="959643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Anda telah merangkai jalur data lengkap dari perangkat sampai analitik.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7921" y="4427190"/>
            <a:ext cx="3536156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1" sz="1200" i="0" u="none">
                <a:solidFill>
                  <a:srgbClr val="CBD5E1"/>
                </a:solidFill>
                <a:latin typeface="Inter"/>
              </a:rPr>
              <a:t>TERIMA KASIH &amp; SESI DISKUSI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1100" y="203448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1100" y="2958405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1100" y="388233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1100" y="279648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1100" y="279648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1100" y="372040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1100" y="372040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1100" y="464433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1100" y="464433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17735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10128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402520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494913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1100" y="1181100"/>
            <a:ext cx="4250531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475" y="2198340"/>
            <a:ext cx="4893468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https://www.fsp-group.com/upload/230221-63F436389ECE4.png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475" y="2419201"/>
            <a:ext cx="2619375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www.fsp-group.com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475" y="3122265"/>
            <a:ext cx="9915525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https://legacy-us-images.foundryco.app/images/article/2022/12/mqtt-publish-subscribe-100935373-large.jpg?auto=webp&amp;quality=85,70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6475" y="3343126"/>
            <a:ext cx="257175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www.infoworld.com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6475" y="4046190"/>
            <a:ext cx="4905375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https://telemetry2u.com/images/telemetry2u-data-visualisation.jpg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76475" y="4267051"/>
            <a:ext cx="2262187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telemetry2u.com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6475" y="4970115"/>
            <a:ext cx="2155031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https://i.sstatic.net/pkwAf.jpg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475" y="5190976"/>
            <a:ext cx="3679031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datascience.stackexchange.com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